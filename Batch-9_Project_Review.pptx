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58" r:id="rId4"/>
    <p:sldId id="271" r:id="rId5"/>
    <p:sldId id="259" r:id="rId6"/>
    <p:sldId id="272" r:id="rId7"/>
    <p:sldId id="260" r:id="rId8"/>
    <p:sldId id="261" r:id="rId9"/>
    <p:sldId id="263" r:id="rId10"/>
    <p:sldId id="291" r:id="rId11"/>
    <p:sldId id="274" r:id="rId12"/>
    <p:sldId id="264" r:id="rId13"/>
    <p:sldId id="275" r:id="rId14"/>
    <p:sldId id="265" r:id="rId15"/>
    <p:sldId id="276" r:id="rId16"/>
    <p:sldId id="266" r:id="rId17"/>
    <p:sldId id="284" r:id="rId18"/>
    <p:sldId id="285" r:id="rId19"/>
    <p:sldId id="290" r:id="rId20"/>
    <p:sldId id="286" r:id="rId21"/>
    <p:sldId id="280" r:id="rId22"/>
    <p:sldId id="281" r:id="rId23"/>
    <p:sldId id="282" r:id="rId24"/>
    <p:sldId id="287" r:id="rId25"/>
    <p:sldId id="288" r:id="rId26"/>
    <p:sldId id="269" r:id="rId27"/>
    <p:sldId id="277" r:id="rId28"/>
    <p:sldId id="278" r:id="rId29"/>
    <p:sldId id="270" r:id="rId30"/>
    <p:sldId id="289" r:id="rId31"/>
    <p:sldId id="26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7" d="100"/>
          <a:sy n="47" d="100"/>
        </p:scale>
        <p:origin x="104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28272C-9C1E-443B-A60B-EDBC40B24C6E}" type="datetimeFigureOut">
              <a:rPr lang="en-IN" smtClean="0"/>
              <a:t>09-04-2026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67A4C9-0352-4665-82B9-1304A6B14A1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A67A4C9-0352-4665-82B9-1304A6B14A12}" type="slidenum">
              <a:rPr lang="en-IN" smtClean="0"/>
              <a:t>7</a:t>
            </a:fld>
            <a:endParaRPr lang="en-IN"/>
          </a:p>
        </p:txBody>
      </p:sp>
    </p:spTree>
    <p:extLst>
      <p:ext uri="{BB962C8B-B14F-4D97-AF65-F5344CB8AC3E}">
        <p14:creationId xmlns:p14="http://schemas.microsoft.com/office/powerpoint/2010/main" val="1621019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aseline="0">
                <a:latin typeface="Times New Roman" panose="02020603050405020304" pitchFamily="18" charset="0"/>
              </a:defRPr>
            </a:lvl1pPr>
          </a:lstStyle>
          <a:p>
            <a:r>
              <a:rPr lang="en-US" dirty="0"/>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2BA819F-F2AB-4AF8-A473-B20D3B2128D1}"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6C2704-722A-4C06-8280-2180A270E29E}"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1FF22D7-BE65-4951-B09A-7EAFBA86D407}" type="datetime1">
              <a:rPr lang="en-IN" smtClean="0"/>
              <a:t>09-04-2026</a:t>
            </a:fld>
            <a:endParaRPr lang="en-IN"/>
          </a:p>
        </p:txBody>
      </p:sp>
      <p:sp>
        <p:nvSpPr>
          <p:cNvPr id="6" name="Footer Placeholder 5"/>
          <p:cNvSpPr>
            <a:spLocks noGrp="1"/>
          </p:cNvSpPr>
          <p:nvPr>
            <p:ph type="ftr" sz="quarter" idx="11"/>
          </p:nvPr>
        </p:nvSpPr>
        <p:spPr/>
        <p:txBody>
          <a:bodyPr/>
          <a:lstStyle/>
          <a:p>
            <a:r>
              <a:rPr lang="en-US"/>
              <a:t>Department of CSE( AI &amp; ML) </a:t>
            </a:r>
            <a:endParaRPr lang="en-IN"/>
          </a:p>
        </p:txBody>
      </p:sp>
      <p:sp>
        <p:nvSpPr>
          <p:cNvPr id="7" name="Slide Number Placeholder 6"/>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EB870D-6AC4-4C00-A362-95E6FBF0055A}" type="datetime1">
              <a:rPr lang="en-IN" smtClean="0"/>
              <a:t>09-04-2026</a:t>
            </a:fld>
            <a:endParaRPr lang="en-IN"/>
          </a:p>
        </p:txBody>
      </p:sp>
      <p:sp>
        <p:nvSpPr>
          <p:cNvPr id="8" name="Footer Placeholder 7"/>
          <p:cNvSpPr>
            <a:spLocks noGrp="1"/>
          </p:cNvSpPr>
          <p:nvPr>
            <p:ph type="ftr" sz="quarter" idx="11"/>
          </p:nvPr>
        </p:nvSpPr>
        <p:spPr/>
        <p:txBody>
          <a:bodyPr/>
          <a:lstStyle/>
          <a:p>
            <a:r>
              <a:rPr lang="en-US"/>
              <a:t>Department of CSE( AI &amp; ML) </a:t>
            </a:r>
            <a:endParaRPr lang="en-IN"/>
          </a:p>
        </p:txBody>
      </p:sp>
      <p:sp>
        <p:nvSpPr>
          <p:cNvPr id="9" name="Slide Number Placeholder 8"/>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A6E9FAD-7B93-4454-BD68-9A7B87E5077D}" type="datetime1">
              <a:rPr lang="en-IN" smtClean="0"/>
              <a:t>09-04-2026</a:t>
            </a:fld>
            <a:endParaRPr lang="en-IN"/>
          </a:p>
        </p:txBody>
      </p:sp>
      <p:sp>
        <p:nvSpPr>
          <p:cNvPr id="4" name="Footer Placeholder 3"/>
          <p:cNvSpPr>
            <a:spLocks noGrp="1"/>
          </p:cNvSpPr>
          <p:nvPr>
            <p:ph type="ftr" sz="quarter" idx="11"/>
          </p:nvPr>
        </p:nvSpPr>
        <p:spPr/>
        <p:txBody>
          <a:bodyPr/>
          <a:lstStyle/>
          <a:p>
            <a:r>
              <a:rPr lang="en-US"/>
              <a:t>Department of CSE( AI &amp; ML) </a:t>
            </a:r>
            <a:endParaRPr lang="en-IN"/>
          </a:p>
        </p:txBody>
      </p:sp>
      <p:sp>
        <p:nvSpPr>
          <p:cNvPr id="5" name="Slide Number Placeholder 4"/>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1E278E-32BA-4F1E-9628-A13953764196}" type="datetime1">
              <a:rPr lang="en-IN" smtClean="0"/>
              <a:t>09-04-2026</a:t>
            </a:fld>
            <a:endParaRPr lang="en-IN"/>
          </a:p>
        </p:txBody>
      </p:sp>
      <p:sp>
        <p:nvSpPr>
          <p:cNvPr id="3" name="Footer Placeholder 2"/>
          <p:cNvSpPr>
            <a:spLocks noGrp="1"/>
          </p:cNvSpPr>
          <p:nvPr>
            <p:ph type="ftr" sz="quarter" idx="11"/>
          </p:nvPr>
        </p:nvSpPr>
        <p:spPr/>
        <p:txBody>
          <a:bodyPr/>
          <a:lstStyle/>
          <a:p>
            <a:r>
              <a:rPr lang="en-US"/>
              <a:t>Department of CSE( AI &amp; ML) </a:t>
            </a:r>
            <a:endParaRPr lang="en-IN"/>
          </a:p>
        </p:txBody>
      </p:sp>
      <p:sp>
        <p:nvSpPr>
          <p:cNvPr id="4" name="Slide Number Placeholder 3"/>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E72710-67A5-4BA1-9386-C3A113526AA6}" type="datetime1">
              <a:rPr lang="en-IN" smtClean="0"/>
              <a:t>09-04-2026</a:t>
            </a:fld>
            <a:endParaRPr lang="en-IN"/>
          </a:p>
        </p:txBody>
      </p:sp>
      <p:sp>
        <p:nvSpPr>
          <p:cNvPr id="6" name="Footer Placeholder 5"/>
          <p:cNvSpPr>
            <a:spLocks noGrp="1"/>
          </p:cNvSpPr>
          <p:nvPr>
            <p:ph type="ftr" sz="quarter" idx="11"/>
          </p:nvPr>
        </p:nvSpPr>
        <p:spPr/>
        <p:txBody>
          <a:bodyPr/>
          <a:lstStyle/>
          <a:p>
            <a:r>
              <a:rPr lang="en-US"/>
              <a:t>Department of CSE( AI &amp; ML) </a:t>
            </a:r>
            <a:endParaRPr lang="en-IN"/>
          </a:p>
        </p:txBody>
      </p:sp>
      <p:sp>
        <p:nvSpPr>
          <p:cNvPr id="7" name="Slide Number Placeholder 6"/>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D08EC5B-622F-4ECF-8ACE-C6B9C6E60269}" type="datetime1">
              <a:rPr lang="en-IN" smtClean="0"/>
              <a:t>09-04-2026</a:t>
            </a:fld>
            <a:endParaRPr lang="en-IN"/>
          </a:p>
        </p:txBody>
      </p:sp>
      <p:sp>
        <p:nvSpPr>
          <p:cNvPr id="6" name="Footer Placeholder 5"/>
          <p:cNvSpPr>
            <a:spLocks noGrp="1"/>
          </p:cNvSpPr>
          <p:nvPr>
            <p:ph type="ftr" sz="quarter" idx="11"/>
          </p:nvPr>
        </p:nvSpPr>
        <p:spPr/>
        <p:txBody>
          <a:bodyPr/>
          <a:lstStyle/>
          <a:p>
            <a:r>
              <a:rPr lang="en-US"/>
              <a:t>Department of CSE( AI &amp; ML) </a:t>
            </a:r>
            <a:endParaRPr lang="en-IN"/>
          </a:p>
        </p:txBody>
      </p:sp>
      <p:sp>
        <p:nvSpPr>
          <p:cNvPr id="7" name="Slide Number Placeholder 6"/>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D99BD0E-004A-4B50-92F7-207A252C0600}"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7CFD0D6-6AD4-4DB8-9EA0-DD9518FA8648}"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771525" cy="365125"/>
          </a:xfrm>
          <a:prstGeom prst="rect">
            <a:avLst/>
          </a:prstGeom>
          <a:solidFill>
            <a:srgbClr val="002060"/>
          </a:solidFill>
        </p:spPr>
        <p:txBody>
          <a:bodyPr vert="horz" lIns="91440" tIns="45720" rIns="91440" bIns="45720" rtlCol="0" anchor="ctr"/>
          <a:lstStyle>
            <a:lvl1pPr algn="l">
              <a:defRPr sz="1200">
                <a:solidFill>
                  <a:schemeClr val="bg1"/>
                </a:solidFill>
              </a:defRPr>
            </a:lvl1pPr>
          </a:lstStyle>
          <a:p>
            <a:fld id="{8FAED5EA-0836-4910-9B65-3B823BD78C4F}" type="datetime1">
              <a:rPr lang="en-IN" smtClean="0"/>
              <a:t>09-04-2026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a:solidFill>
            <a:srgbClr val="002060"/>
          </a:solidFill>
        </p:spPr>
        <p:txBody>
          <a:bodyPr vert="horz" lIns="91440" tIns="45720" rIns="91440" bIns="45720" rtlCol="0" anchor="ctr"/>
          <a:lstStyle>
            <a:lvl1pPr algn="ctr">
              <a:defRPr sz="1200">
                <a:solidFill>
                  <a:schemeClr val="bg1"/>
                </a:solidFill>
                <a:latin typeface="Times New Roman" panose="02020603050405020304" pitchFamily="18" charset="0"/>
                <a:cs typeface="Times New Roman" panose="02020603050405020304" pitchFamily="18" charset="0"/>
              </a:defRPr>
            </a:lvl1pPr>
          </a:lstStyle>
          <a:p>
            <a:r>
              <a:rPr lang="en-US" dirty="0"/>
              <a:t>Department of CSE( AI &amp; ML) </a:t>
            </a:r>
            <a:endParaRPr lang="en-IN" dirty="0"/>
          </a:p>
        </p:txBody>
      </p:sp>
      <p:sp>
        <p:nvSpPr>
          <p:cNvPr id="6" name="Slide Number Placeholder 5"/>
          <p:cNvSpPr>
            <a:spLocks noGrp="1"/>
          </p:cNvSpPr>
          <p:nvPr>
            <p:ph type="sldNum" sz="quarter" idx="4"/>
          </p:nvPr>
        </p:nvSpPr>
        <p:spPr>
          <a:xfrm>
            <a:off x="10782300" y="6356350"/>
            <a:ext cx="571500" cy="365125"/>
          </a:xfrm>
          <a:prstGeom prst="rect">
            <a:avLst/>
          </a:prstGeom>
          <a:solidFill>
            <a:srgbClr val="002060"/>
          </a:solidFill>
        </p:spPr>
        <p:txBody>
          <a:bodyPr vert="horz" lIns="91440" tIns="45720" rIns="91440" bIns="45720" rtlCol="0" anchor="ctr"/>
          <a:lstStyle>
            <a:lvl1pPr algn="r">
              <a:defRPr sz="1200">
                <a:solidFill>
                  <a:schemeClr val="bg1"/>
                </a:solidFill>
              </a:defRPr>
            </a:lvl1pPr>
          </a:lstStyle>
          <a:p>
            <a:fld id="{68E22B1B-3C73-49A3-AAA4-1ABA7C6D03ED}" type="slidenum">
              <a:rPr lang="en-IN" smtClean="0"/>
              <a:t>‹#›</a:t>
            </a:fld>
            <a:endParaRPr lang="en-IN"/>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52031" y="230188"/>
            <a:ext cx="2003387" cy="72072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rgbClr val="C00000"/>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2060"/>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2060"/>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2060"/>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2060"/>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tensorflow.org/" TargetMode="External"/><Relationship Id="rId2" Type="http://schemas.openxmlformats.org/officeDocument/2006/relationships/hyperlink" Target="https://keras.io/"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560" y="1000760"/>
            <a:ext cx="11358880" cy="876141"/>
          </a:xfrm>
        </p:spPr>
        <p:txBody>
          <a:bodyPr>
            <a:normAutofit/>
          </a:bodyPr>
          <a:lstStyle/>
          <a:p>
            <a:r>
              <a:rPr lang="en-US" sz="4000" b="1" dirty="0">
                <a:solidFill>
                  <a:srgbClr val="002060"/>
                </a:solidFill>
              </a:rPr>
              <a:t>Project Stage-2 Review -2</a:t>
            </a:r>
            <a:endParaRPr lang="en-IN" sz="4000" b="1" dirty="0">
              <a:solidFill>
                <a:srgbClr val="002060"/>
              </a:solidFill>
            </a:endParaRPr>
          </a:p>
        </p:txBody>
      </p:sp>
      <p:sp>
        <p:nvSpPr>
          <p:cNvPr id="4" name="Title 1"/>
          <p:cNvSpPr txBox="1"/>
          <p:nvPr/>
        </p:nvSpPr>
        <p:spPr>
          <a:xfrm>
            <a:off x="423862" y="2814955"/>
            <a:ext cx="11477625" cy="63341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baseline="0">
                <a:solidFill>
                  <a:srgbClr val="C00000"/>
                </a:solidFill>
                <a:latin typeface="Times New Roman" panose="02020603050405020304" pitchFamily="18" charset="0"/>
                <a:ea typeface="+mj-ea"/>
                <a:cs typeface="Times New Roman" panose="02020603050405020304" pitchFamily="18" charset="0"/>
              </a:defRPr>
            </a:lvl1pPr>
          </a:lstStyle>
          <a:p>
            <a:r>
              <a:rPr lang="en-IN" altLang="en-US" sz="3600" b="1" dirty="0"/>
              <a:t>Brain Stroke Detection Using ResNet-50</a:t>
            </a:r>
          </a:p>
        </p:txBody>
      </p:sp>
      <p:sp>
        <p:nvSpPr>
          <p:cNvPr id="5" name="TextBox 3"/>
          <p:cNvSpPr txBox="1">
            <a:spLocks noChangeArrowheads="1"/>
          </p:cNvSpPr>
          <p:nvPr/>
        </p:nvSpPr>
        <p:spPr bwMode="auto">
          <a:xfrm>
            <a:off x="1152524" y="3972243"/>
            <a:ext cx="27178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b="1" dirty="0">
                <a:latin typeface="Times New Roman" panose="02020603050405020304" pitchFamily="18" charset="0"/>
                <a:cs typeface="Times New Roman" panose="02020603050405020304" pitchFamily="18" charset="0"/>
              </a:rPr>
              <a:t>Under the Guidance</a:t>
            </a:r>
          </a:p>
        </p:txBody>
      </p:sp>
      <p:sp>
        <p:nvSpPr>
          <p:cNvPr id="6" name="TextBox 4"/>
          <p:cNvSpPr txBox="1">
            <a:spLocks noChangeArrowheads="1"/>
          </p:cNvSpPr>
          <p:nvPr/>
        </p:nvSpPr>
        <p:spPr bwMode="auto">
          <a:xfrm>
            <a:off x="1152524" y="4502468"/>
            <a:ext cx="226857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dirty="0">
                <a:latin typeface="Times New Roman" panose="02020603050405020304" pitchFamily="18" charset="0"/>
                <a:cs typeface="Times New Roman" panose="02020603050405020304" pitchFamily="18" charset="0"/>
              </a:rPr>
              <a:t>Mrs. N. Mownika </a:t>
            </a:r>
            <a:r>
              <a:rPr lang="en-IN" altLang="en-US" sz="800" dirty="0">
                <a:latin typeface="Times New Roman" panose="02020603050405020304" pitchFamily="18" charset="0"/>
                <a:cs typeface="Times New Roman" panose="02020603050405020304" pitchFamily="18" charset="0"/>
              </a:rPr>
              <a:t>M. Tech.</a:t>
            </a:r>
          </a:p>
        </p:txBody>
      </p:sp>
      <p:sp>
        <p:nvSpPr>
          <p:cNvPr id="7" name="TextBox 5"/>
          <p:cNvSpPr txBox="1">
            <a:spLocks noChangeArrowheads="1"/>
          </p:cNvSpPr>
          <p:nvPr/>
        </p:nvSpPr>
        <p:spPr bwMode="auto">
          <a:xfrm>
            <a:off x="7096124" y="3972243"/>
            <a:ext cx="4375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b="1" dirty="0">
                <a:latin typeface="Times New Roman" panose="02020603050405020304" pitchFamily="18" charset="0"/>
                <a:cs typeface="Times New Roman" panose="02020603050405020304" pitchFamily="18" charset="0"/>
              </a:rPr>
              <a:t>Presentation by</a:t>
            </a:r>
          </a:p>
        </p:txBody>
      </p:sp>
      <p:sp>
        <p:nvSpPr>
          <p:cNvPr id="8" name="TextBox 6"/>
          <p:cNvSpPr txBox="1">
            <a:spLocks noChangeArrowheads="1"/>
          </p:cNvSpPr>
          <p:nvPr/>
        </p:nvSpPr>
        <p:spPr bwMode="auto">
          <a:xfrm>
            <a:off x="7096124" y="4502468"/>
            <a:ext cx="4375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dirty="0">
                <a:latin typeface="Times New Roman" panose="02020603050405020304" pitchFamily="18" charset="0"/>
                <a:cs typeface="Times New Roman" panose="02020603050405020304" pitchFamily="18" charset="0"/>
              </a:rPr>
              <a:t>Mr. B. Bharath(22C11A6607)</a:t>
            </a:r>
          </a:p>
        </p:txBody>
      </p:sp>
      <p:sp>
        <p:nvSpPr>
          <p:cNvPr id="9" name="TextBox 7"/>
          <p:cNvSpPr txBox="1">
            <a:spLocks noChangeArrowheads="1"/>
          </p:cNvSpPr>
          <p:nvPr/>
        </p:nvSpPr>
        <p:spPr bwMode="auto">
          <a:xfrm>
            <a:off x="7096124" y="4872355"/>
            <a:ext cx="4375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IN" altLang="en-US" dirty="0">
                <a:latin typeface="Times New Roman" panose="02020603050405020304" pitchFamily="18" charset="0"/>
                <a:cs typeface="Times New Roman" panose="02020603050405020304" pitchFamily="18" charset="0"/>
              </a:rPr>
              <a:t>Mr. B. Vinay(22C11A663)</a:t>
            </a:r>
          </a:p>
        </p:txBody>
      </p:sp>
      <p:sp>
        <p:nvSpPr>
          <p:cNvPr id="12" name="TextBox 10"/>
          <p:cNvSpPr txBox="1">
            <a:spLocks noChangeArrowheads="1"/>
          </p:cNvSpPr>
          <p:nvPr/>
        </p:nvSpPr>
        <p:spPr bwMode="auto">
          <a:xfrm>
            <a:off x="1152524" y="4889818"/>
            <a:ext cx="331787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dirty="0">
                <a:latin typeface="Times New Roman" panose="02020603050405020304" pitchFamily="18" charset="0"/>
                <a:cs typeface="Times New Roman" panose="02020603050405020304" pitchFamily="18" charset="0"/>
              </a:rPr>
              <a:t>Assistant Professor,</a:t>
            </a:r>
          </a:p>
          <a:p>
            <a:pPr algn="ctr" eaLnBrk="1" hangingPunct="1"/>
            <a:r>
              <a:rPr lang="en-IN" altLang="en-US" dirty="0">
                <a:latin typeface="Times New Roman" panose="02020603050405020304" pitchFamily="18" charset="0"/>
                <a:cs typeface="Times New Roman" panose="02020603050405020304" pitchFamily="18" charset="0"/>
              </a:rPr>
              <a:t>Department of CSE(AI &amp; ML)</a:t>
            </a:r>
          </a:p>
        </p:txBody>
      </p:sp>
      <p:sp>
        <p:nvSpPr>
          <p:cNvPr id="14" name="TextBox 13"/>
          <p:cNvSpPr txBox="1">
            <a:spLocks noChangeArrowheads="1"/>
          </p:cNvSpPr>
          <p:nvPr/>
        </p:nvSpPr>
        <p:spPr bwMode="auto">
          <a:xfrm>
            <a:off x="357187" y="2018030"/>
            <a:ext cx="11477625"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IN" altLang="en-US" sz="2800" b="1" dirty="0">
                <a:solidFill>
                  <a:srgbClr val="002060"/>
                </a:solidFill>
                <a:latin typeface="Times New Roman" panose="02020603050405020304" pitchFamily="18" charset="0"/>
                <a:cs typeface="Times New Roman" panose="02020603050405020304" pitchFamily="18" charset="0"/>
              </a:rPr>
              <a:t>02/04/2026</a:t>
            </a:r>
          </a:p>
        </p:txBody>
      </p:sp>
      <p:sp>
        <p:nvSpPr>
          <p:cNvPr id="15" name="Footer Placeholder 14"/>
          <p:cNvSpPr>
            <a:spLocks noGrp="1"/>
          </p:cNvSpPr>
          <p:nvPr>
            <p:ph type="ftr" sz="quarter" idx="11"/>
          </p:nvPr>
        </p:nvSpPr>
        <p:spPr>
          <a:xfrm>
            <a:off x="4038600" y="6459637"/>
            <a:ext cx="4114800" cy="261838"/>
          </a:xfrm>
        </p:spPr>
        <p:txBody>
          <a:bodyPr/>
          <a:lstStyle/>
          <a:p>
            <a:r>
              <a:rPr lang="en-US" dirty="0"/>
              <a:t>Department of CSE( AI &amp; ML) </a:t>
            </a:r>
            <a:endParaRPr lang="en-IN" dirty="0"/>
          </a:p>
        </p:txBody>
      </p:sp>
      <p:sp>
        <p:nvSpPr>
          <p:cNvPr id="16" name="Date Placeholder 15"/>
          <p:cNvSpPr>
            <a:spLocks noGrp="1"/>
          </p:cNvSpPr>
          <p:nvPr>
            <p:ph type="dt" sz="half" idx="10"/>
          </p:nvPr>
        </p:nvSpPr>
        <p:spPr>
          <a:xfrm>
            <a:off x="781050" y="6407994"/>
            <a:ext cx="1295400" cy="313482"/>
          </a:xfrm>
        </p:spPr>
        <p:txBody>
          <a:bodyPr/>
          <a:lstStyle/>
          <a:p>
            <a:r>
              <a:rPr lang="en-IN" dirty="0"/>
              <a:t>02/04/2026</a:t>
            </a:r>
          </a:p>
        </p:txBody>
      </p:sp>
      <p:sp>
        <p:nvSpPr>
          <p:cNvPr id="17" name="Slide Number Placeholder 16"/>
          <p:cNvSpPr>
            <a:spLocks noGrp="1"/>
          </p:cNvSpPr>
          <p:nvPr>
            <p:ph type="sldNum" sz="quarter" idx="12"/>
          </p:nvPr>
        </p:nvSpPr>
        <p:spPr>
          <a:xfrm>
            <a:off x="10782300" y="6459637"/>
            <a:ext cx="571500" cy="261838"/>
          </a:xfrm>
        </p:spPr>
        <p:txBody>
          <a:bodyPr/>
          <a:lstStyle/>
          <a:p>
            <a:fld id="{68E22B1B-3C73-49A3-AAA4-1ABA7C6D03ED}"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82955"/>
          </a:xfrm>
        </p:spPr>
        <p:txBody>
          <a:bodyPr/>
          <a:lstStyle/>
          <a:p>
            <a:r>
              <a:rPr lang="en-US" dirty="0"/>
              <a:t>Index </a:t>
            </a:r>
            <a:endParaRPr lang="en-IN" dirty="0"/>
          </a:p>
        </p:txBody>
      </p:sp>
      <p:sp>
        <p:nvSpPr>
          <p:cNvPr id="3" name="Content Placeholder 2"/>
          <p:cNvSpPr>
            <a:spLocks noGrp="1"/>
          </p:cNvSpPr>
          <p:nvPr>
            <p:ph idx="1"/>
          </p:nvPr>
        </p:nvSpPr>
        <p:spPr>
          <a:xfrm>
            <a:off x="838200" y="1219200"/>
            <a:ext cx="10515600" cy="4957763"/>
          </a:xfrm>
        </p:spPr>
        <p:txBody>
          <a:bodyPr>
            <a:normAutofit fontScale="92500" lnSpcReduction="20000"/>
          </a:bodyPr>
          <a:lstStyle/>
          <a:p>
            <a:pPr>
              <a:defRPr/>
            </a:pPr>
            <a:r>
              <a:rPr lang="en-IN" altLang="en-US" dirty="0"/>
              <a:t>Problem Statement</a:t>
            </a:r>
          </a:p>
          <a:p>
            <a:pPr>
              <a:defRPr/>
            </a:pPr>
            <a:r>
              <a:rPr lang="en-IN" altLang="en-US" dirty="0"/>
              <a:t>Proposed System</a:t>
            </a:r>
          </a:p>
          <a:p>
            <a:pPr>
              <a:defRPr/>
            </a:pPr>
            <a:r>
              <a:rPr lang="en-IN" altLang="en-US" dirty="0"/>
              <a:t>Architecture</a:t>
            </a:r>
          </a:p>
          <a:p>
            <a:pPr>
              <a:defRPr/>
            </a:pPr>
            <a:r>
              <a:rPr lang="en-IN" altLang="en-US" dirty="0"/>
              <a:t>Dataset Description </a:t>
            </a:r>
          </a:p>
          <a:p>
            <a:pPr>
              <a:defRPr/>
            </a:pPr>
            <a:r>
              <a:rPr lang="en-IN" altLang="en-US" dirty="0"/>
              <a:t>Data Preprocessing </a:t>
            </a:r>
          </a:p>
          <a:p>
            <a:pPr>
              <a:defRPr/>
            </a:pPr>
            <a:r>
              <a:rPr lang="en-IN" altLang="en-US" dirty="0"/>
              <a:t>Model </a:t>
            </a:r>
          </a:p>
          <a:p>
            <a:pPr>
              <a:defRPr/>
            </a:pPr>
            <a:r>
              <a:rPr lang="en-IN" altLang="en-US" dirty="0"/>
              <a:t>Training Process</a:t>
            </a:r>
          </a:p>
          <a:p>
            <a:pPr>
              <a:defRPr/>
            </a:pPr>
            <a:r>
              <a:rPr lang="en-IN" altLang="en-US" dirty="0"/>
              <a:t>System Implementation &amp; Testing</a:t>
            </a:r>
          </a:p>
          <a:p>
            <a:pPr>
              <a:defRPr/>
            </a:pPr>
            <a:r>
              <a:rPr lang="en-IN" altLang="en-US" dirty="0"/>
              <a:t>Screens </a:t>
            </a:r>
          </a:p>
          <a:p>
            <a:pPr>
              <a:defRPr/>
            </a:pPr>
            <a:r>
              <a:rPr lang="en-IN" altLang="en-US" dirty="0"/>
              <a:t>Results &amp;  Performance Analysis</a:t>
            </a:r>
          </a:p>
          <a:p>
            <a:pPr>
              <a:defRPr/>
            </a:pPr>
            <a:r>
              <a:rPr lang="en-IN" altLang="en-US" dirty="0"/>
              <a:t>Conclusion &amp; Future Scope </a:t>
            </a:r>
          </a:p>
          <a:p>
            <a:pPr>
              <a:defRPr/>
            </a:pPr>
            <a:r>
              <a:rPr lang="en-IN" altLang="en-US" dirty="0"/>
              <a:t>References</a:t>
            </a:r>
          </a:p>
          <a:p>
            <a:pPr>
              <a:defRPr/>
            </a:pPr>
            <a:endParaRPr lang="en-IN" altLang="en-US" dirty="0"/>
          </a:p>
          <a:p>
            <a:pPr>
              <a:defRPr/>
            </a:pPr>
            <a:endParaRPr lang="en-IN" altLang="en-US" dirty="0"/>
          </a:p>
          <a:p>
            <a:pPr>
              <a:defRPr/>
            </a:pPr>
            <a:endParaRPr lang="en-IN" altLang="en-US" dirty="0"/>
          </a:p>
          <a:p>
            <a:pPr marL="0" indent="0">
              <a:buNone/>
              <a:defRPr/>
            </a:pPr>
            <a:endParaRPr lang="en-IN" altLang="en-US" dirty="0"/>
          </a:p>
          <a:p>
            <a:endParaRPr lang="en-IN" dirty="0"/>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2</a:t>
            </a:fld>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Problem Statement</a:t>
            </a:r>
          </a:p>
        </p:txBody>
      </p:sp>
      <p:sp>
        <p:nvSpPr>
          <p:cNvPr id="3" name="Content Placeholder 2"/>
          <p:cNvSpPr>
            <a:spLocks noGrp="1"/>
          </p:cNvSpPr>
          <p:nvPr>
            <p:ph idx="1"/>
          </p:nvPr>
        </p:nvSpPr>
        <p:spPr>
          <a:xfrm>
            <a:off x="838200" y="1219200"/>
            <a:ext cx="10515600" cy="4957763"/>
          </a:xfrm>
        </p:spPr>
        <p:txBody>
          <a:bodyPr>
            <a:normAutofit/>
          </a:bodyPr>
          <a:lstStyle/>
          <a:p>
            <a:pPr algn="just">
              <a:lnSpc>
                <a:spcPct val="150000"/>
              </a:lnSpc>
            </a:pPr>
            <a:r>
              <a:rPr lang="en-US" sz="2500" dirty="0">
                <a:solidFill>
                  <a:schemeClr val="tx1"/>
                </a:solidFill>
              </a:rPr>
              <a:t>Stroke diagnosis is time-critical and requires rapid decision-making </a:t>
            </a:r>
          </a:p>
          <a:p>
            <a:pPr algn="just">
              <a:lnSpc>
                <a:spcPct val="150000"/>
              </a:lnSpc>
            </a:pPr>
            <a:r>
              <a:rPr lang="en-US" sz="2500" dirty="0">
                <a:solidFill>
                  <a:schemeClr val="tx1"/>
                </a:solidFill>
              </a:rPr>
              <a:t>Manual CT scan analysis is time-consuming and depends on expert radiologists </a:t>
            </a:r>
          </a:p>
          <a:p>
            <a:pPr algn="just">
              <a:lnSpc>
                <a:spcPct val="150000"/>
              </a:lnSpc>
            </a:pPr>
            <a:r>
              <a:rPr lang="en-US" sz="2500" dirty="0">
                <a:solidFill>
                  <a:schemeClr val="tx1"/>
                </a:solidFill>
              </a:rPr>
              <a:t>Early-stage stroke features are subtle and difficult to detect </a:t>
            </a:r>
          </a:p>
          <a:p>
            <a:pPr algn="just">
              <a:lnSpc>
                <a:spcPct val="150000"/>
              </a:lnSpc>
            </a:pPr>
            <a:r>
              <a:rPr lang="en-US" sz="2500" dirty="0">
                <a:solidFill>
                  <a:schemeClr val="tx1"/>
                </a:solidFill>
              </a:rPr>
              <a:t>Increasing number of CT scans creates workload for medical professionals </a:t>
            </a:r>
          </a:p>
          <a:p>
            <a:pPr algn="just">
              <a:lnSpc>
                <a:spcPct val="150000"/>
              </a:lnSpc>
              <a:defRPr/>
            </a:pPr>
            <a:endParaRPr lang="en-IN" altLang="en-US" sz="2500" dirty="0">
              <a:solidFill>
                <a:schemeClr val="tx1"/>
              </a:solidFill>
            </a:endParaRPr>
          </a:p>
          <a:p>
            <a:pPr marL="0" indent="0" algn="just">
              <a:lnSpc>
                <a:spcPct val="150000"/>
              </a:lnSpc>
              <a:buNone/>
              <a:defRPr/>
            </a:pPr>
            <a:endParaRPr lang="en-IN" altLang="en-US" sz="2500" dirty="0">
              <a:solidFill>
                <a:schemeClr val="tx1"/>
              </a:solidFill>
              <a:latin typeface="Arial" panose="020B0604020202020204" pitchFamily="34" charset="0"/>
              <a:cs typeface="Arial" panose="020B0604020202020204" pitchFamily="34" charset="0"/>
            </a:endParaRPr>
          </a:p>
          <a:p>
            <a:pPr algn="just">
              <a:lnSpc>
                <a:spcPct val="150000"/>
              </a:lnSpc>
            </a:pPr>
            <a:endParaRPr lang="en-IN" sz="2500"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3</a:t>
            </a:fld>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63509"/>
            <a:ext cx="10026445" cy="4351338"/>
          </a:xfrm>
        </p:spPr>
        <p:txBody>
          <a:bodyPr>
            <a:normAutofit/>
          </a:bodyPr>
          <a:lstStyle/>
          <a:p>
            <a:pPr algn="just">
              <a:lnSpc>
                <a:spcPct val="150000"/>
              </a:lnSpc>
            </a:pPr>
            <a:r>
              <a:rPr lang="en-US" sz="2400" dirty="0">
                <a:solidFill>
                  <a:schemeClr val="tx1"/>
                </a:solidFill>
              </a:rPr>
              <a:t>Traditional ML methods rely on handcrafted features which leads to a low accuracy .</a:t>
            </a:r>
          </a:p>
          <a:p>
            <a:pPr algn="just">
              <a:lnSpc>
                <a:spcPct val="150000"/>
              </a:lnSpc>
            </a:pPr>
            <a:r>
              <a:rPr lang="en-US" sz="2400" dirty="0">
                <a:solidFill>
                  <a:schemeClr val="tx1"/>
                </a:solidFill>
                <a:highlight>
                  <a:srgbClr val="FFFFFF"/>
                </a:highlight>
              </a:rPr>
              <a:t>Early deep learning models struggle with accurate CT image analysis </a:t>
            </a:r>
            <a:r>
              <a:rPr lang="en-US" sz="2400" dirty="0">
                <a:solidFill>
                  <a:schemeClr val="tx1"/>
                </a:solidFill>
              </a:rPr>
              <a:t>Poor generalization in complex medical datasets .</a:t>
            </a:r>
          </a:p>
          <a:p>
            <a:pPr algn="just">
              <a:lnSpc>
                <a:spcPct val="150000"/>
              </a:lnSpc>
            </a:pPr>
            <a:r>
              <a:rPr lang="en-US" sz="2400" dirty="0">
                <a:solidFill>
                  <a:schemeClr val="tx1"/>
                </a:solidFill>
              </a:rPr>
              <a:t>Need for an automated, accurate, and efficient detection system .</a:t>
            </a:r>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Proposed System</a:t>
            </a: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5</a:t>
            </a:fld>
            <a:endParaRPr lang="en-IN" b="1" dirty="0">
              <a:latin typeface="Arial" panose="020B0604020202020204" pitchFamily="34" charset="0"/>
              <a:cs typeface="Arial" panose="020B0604020202020204" pitchFamily="34" charset="0"/>
            </a:endParaRPr>
          </a:p>
        </p:txBody>
      </p:sp>
      <p:sp>
        <p:nvSpPr>
          <p:cNvPr id="14" name="Rectangle 8">
            <a:extLst>
              <a:ext uri="{FF2B5EF4-FFF2-40B4-BE49-F238E27FC236}">
                <a16:creationId xmlns:a16="http://schemas.microsoft.com/office/drawing/2014/main" id="{47F8BA7F-C4ED-E007-ACAC-CB9C6E42EA6D}"/>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1" name="Rectangle 15">
            <a:extLst>
              <a:ext uri="{FF2B5EF4-FFF2-40B4-BE49-F238E27FC236}">
                <a16:creationId xmlns:a16="http://schemas.microsoft.com/office/drawing/2014/main" id="{E47F16DB-F325-7164-2569-486EF65FFF9E}"/>
              </a:ext>
            </a:extLst>
          </p:cNvPr>
          <p:cNvSpPr>
            <a:spLocks noGrp="1" noChangeArrowheads="1"/>
          </p:cNvSpPr>
          <p:nvPr>
            <p:ph idx="1"/>
          </p:nvPr>
        </p:nvSpPr>
        <p:spPr bwMode="auto">
          <a:xfrm>
            <a:off x="838200" y="1749762"/>
            <a:ext cx="9010527" cy="2331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kumimoji="0" lang="en-US" altLang="en-US" sz="2500" b="0" i="0" u="none" strike="noStrike" cap="none" normalizeH="0" baseline="0" dirty="0">
                <a:ln>
                  <a:noFill/>
                </a:ln>
                <a:solidFill>
                  <a:schemeClr val="tx1"/>
                </a:solidFill>
                <a:effectLst/>
              </a:rPr>
              <a:t> System takes CT scan image as input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Image undergoes preprocessing for consistency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Deep learning model extracts features automatically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ResNet50 is used as the primary backbone network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6</a:t>
            </a:fld>
            <a:endParaRPr lang="en-IN"/>
          </a:p>
        </p:txBody>
      </p:sp>
      <p:sp>
        <p:nvSpPr>
          <p:cNvPr id="7" name="Rectangle 2">
            <a:extLst>
              <a:ext uri="{FF2B5EF4-FFF2-40B4-BE49-F238E27FC236}">
                <a16:creationId xmlns:a16="http://schemas.microsoft.com/office/drawing/2014/main" id="{9717A82D-4401-7AE3-E2AD-49645E9C4F18}"/>
              </a:ext>
            </a:extLst>
          </p:cNvPr>
          <p:cNvSpPr>
            <a:spLocks noGrp="1" noChangeArrowheads="1"/>
          </p:cNvSpPr>
          <p:nvPr>
            <p:ph idx="1"/>
          </p:nvPr>
        </p:nvSpPr>
        <p:spPr bwMode="auto">
          <a:xfrm>
            <a:off x="757083" y="947103"/>
            <a:ext cx="9004365" cy="3485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endParaRPr kumimoji="0" lang="en-US" altLang="en-US" sz="2500" b="0" i="0" u="none" strike="noStrike" cap="none" normalizeH="0" baseline="0" dirty="0">
              <a:ln>
                <a:noFill/>
              </a:ln>
              <a:solidFill>
                <a:schemeClr val="tx1"/>
              </a:solidFill>
              <a:effectLst/>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ResNet50 performs deep hierarchical feature extraction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Additional feature refinement is applied to improve accuracy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Model captures both structural patterns and fine details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Final classification predicts Stroke / No Stroke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b="0" i="0" u="none" strike="noStrike" cap="none" normalizeH="0" baseline="0" dirty="0">
                <a:ln>
                  <a:noFill/>
                </a:ln>
                <a:solidFill>
                  <a:schemeClr val="tx1"/>
                </a:solidFill>
                <a:effectLst/>
              </a:rPr>
              <a:t> Integrated into a web-based application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Architecture</a:t>
            </a:r>
          </a:p>
        </p:txBody>
      </p:sp>
      <p:sp>
        <p:nvSpPr>
          <p:cNvPr id="3" name="Content Placeholder 2"/>
          <p:cNvSpPr>
            <a:spLocks noGrp="1"/>
          </p:cNvSpPr>
          <p:nvPr>
            <p:ph idx="1"/>
          </p:nvPr>
        </p:nvSpPr>
        <p:spPr>
          <a:xfrm>
            <a:off x="486082" y="1072514"/>
            <a:ext cx="10515600" cy="4957763"/>
          </a:xfrm>
        </p:spPr>
        <p:txBody>
          <a:bodyPr>
            <a:normAutofit/>
          </a:bodyPr>
          <a:lstStyle/>
          <a:p>
            <a:pPr marL="0" indent="0" algn="just">
              <a:lnSpc>
                <a:spcPct val="150000"/>
              </a:lnSpc>
              <a:buNone/>
              <a:defRPr/>
            </a:pPr>
            <a:r>
              <a:rPr lang="en-IN" sz="2400" dirty="0">
                <a:solidFill>
                  <a:schemeClr val="tx1"/>
                </a:solidFill>
                <a:highlight>
                  <a:srgbClr val="FFFFFF"/>
                </a:highlight>
              </a:rPr>
              <a:t>Input CT Scan → Image Preprocessing → ResNet50 Model (Feature Extraction) → Fire Module (Feature Refinement) → Dense Layers (Classification) → Stroke / Normal Output → Web Application Interface</a:t>
            </a:r>
            <a:endParaRPr lang="en-IN" altLang="en-US" dirty="0">
              <a:solidFill>
                <a:schemeClr val="tx1"/>
              </a:solidFill>
              <a:latin typeface="Arial" panose="020B0604020202020204" pitchFamily="34" charset="0"/>
              <a:cs typeface="Arial" panose="020B0604020202020204" pitchFamily="34" charset="0"/>
            </a:endParaRPr>
          </a:p>
          <a:p>
            <a:pPr>
              <a:defRPr/>
            </a:pPr>
            <a:endParaRPr lang="en-IN" altLang="en-US" dirty="0">
              <a:solidFill>
                <a:schemeClr val="tx1"/>
              </a:solidFill>
              <a:latin typeface="Arial" panose="020B0604020202020204" pitchFamily="34" charset="0"/>
              <a:cs typeface="Arial" panose="020B0604020202020204" pitchFamily="34" charset="0"/>
            </a:endParaRPr>
          </a:p>
          <a:p>
            <a:pPr marL="0" indent="0">
              <a:buNone/>
            </a:pPr>
            <a:endParaRPr lang="en-IN"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7</a:t>
            </a:fld>
            <a:endParaRPr lang="en-IN"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B1D8321-5826-9DFB-A914-AF734B51FBE9}"/>
              </a:ext>
            </a:extLst>
          </p:cNvPr>
          <p:cNvPicPr>
            <a:picLocks noChangeAspect="1"/>
          </p:cNvPicPr>
          <p:nvPr/>
        </p:nvPicPr>
        <p:blipFill rotWithShape="1">
          <a:blip r:embed="rId3">
            <a:extLst>
              <a:ext uri="{28A0092B-C50C-407E-A947-70E740481C1C}">
                <a14:useLocalDpi xmlns:a14="http://schemas.microsoft.com/office/drawing/2010/main" val="0"/>
              </a:ext>
            </a:extLst>
          </a:blip>
          <a:srcRect t="8296" b="9666"/>
          <a:stretch>
            <a:fillRect/>
          </a:stretch>
        </p:blipFill>
        <p:spPr bwMode="auto">
          <a:xfrm>
            <a:off x="1645920" y="2675572"/>
            <a:ext cx="7670800" cy="3109914"/>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Dataset Description</a:t>
            </a:r>
          </a:p>
        </p:txBody>
      </p:sp>
      <p:sp>
        <p:nvSpPr>
          <p:cNvPr id="3" name="Content Placeholder 2"/>
          <p:cNvSpPr>
            <a:spLocks noGrp="1"/>
          </p:cNvSpPr>
          <p:nvPr>
            <p:ph idx="1"/>
          </p:nvPr>
        </p:nvSpPr>
        <p:spPr>
          <a:xfrm>
            <a:off x="838200" y="1219200"/>
            <a:ext cx="10515600" cy="4957763"/>
          </a:xfrm>
        </p:spPr>
        <p:txBody>
          <a:bodyPr>
            <a:normAutofit fontScale="97500"/>
          </a:bodyPr>
          <a:lstStyle/>
          <a:p>
            <a:pPr marL="0" indent="0" algn="just">
              <a:lnSpc>
                <a:spcPct val="150000"/>
              </a:lnSpc>
              <a:buNone/>
              <a:defRPr/>
            </a:pPr>
            <a:r>
              <a:rPr lang="en-US" altLang="en-US" sz="2500" b="1" dirty="0">
                <a:solidFill>
                  <a:schemeClr val="tx1"/>
                </a:solidFill>
              </a:rPr>
              <a:t>Source:</a:t>
            </a:r>
            <a:r>
              <a:rPr lang="en-US" altLang="en-US" sz="2500" dirty="0">
                <a:solidFill>
                  <a:schemeClr val="tx1"/>
                </a:solidFill>
              </a:rPr>
              <a:t> Kaggle</a:t>
            </a:r>
          </a:p>
          <a:p>
            <a:pPr marL="0" indent="0" algn="just">
              <a:lnSpc>
                <a:spcPct val="150000"/>
              </a:lnSpc>
              <a:buNone/>
              <a:defRPr/>
            </a:pPr>
            <a:r>
              <a:rPr lang="en-US" altLang="en-US" sz="2500" b="1" dirty="0">
                <a:solidFill>
                  <a:schemeClr val="tx1"/>
                </a:solidFill>
              </a:rPr>
              <a:t>Size: </a:t>
            </a:r>
            <a:r>
              <a:rPr lang="en-US" altLang="en-US" sz="2500" dirty="0">
                <a:solidFill>
                  <a:schemeClr val="tx1"/>
                </a:solidFill>
              </a:rPr>
              <a:t>Approximately 2500 CT images across 2 classes (Stroke , No Stroke)</a:t>
            </a:r>
          </a:p>
          <a:p>
            <a:pPr marL="0" indent="0" algn="just">
              <a:lnSpc>
                <a:spcPct val="150000"/>
              </a:lnSpc>
              <a:buNone/>
              <a:defRPr/>
            </a:pPr>
            <a:r>
              <a:rPr lang="en-US" altLang="en-US" sz="2500" b="1" dirty="0">
                <a:solidFill>
                  <a:schemeClr val="tx1"/>
                </a:solidFill>
              </a:rPr>
              <a:t>Class Distribution: </a:t>
            </a:r>
            <a:r>
              <a:rPr lang="en-US" altLang="en-US" sz="2500" dirty="0">
                <a:solidFill>
                  <a:schemeClr val="tx1"/>
                </a:solidFill>
              </a:rPr>
              <a:t>Slightly imbalanced, with No Stroke </a:t>
            </a:r>
            <a:r>
              <a:rPr lang="en-US" altLang="en-US" sz="2500" dirty="0" err="1">
                <a:solidFill>
                  <a:schemeClr val="tx1"/>
                </a:solidFill>
              </a:rPr>
              <a:t>classe</a:t>
            </a:r>
            <a:r>
              <a:rPr lang="en-US" altLang="en-US" sz="2500" dirty="0">
                <a:solidFill>
                  <a:schemeClr val="tx1"/>
                </a:solidFill>
              </a:rPr>
              <a:t> having more samples than Stroke</a:t>
            </a:r>
          </a:p>
          <a:p>
            <a:pPr marL="0" indent="0" algn="just">
              <a:lnSpc>
                <a:spcPct val="150000"/>
              </a:lnSpc>
              <a:buNone/>
              <a:defRPr/>
            </a:pPr>
            <a:r>
              <a:rPr lang="en-US" altLang="en-US" sz="2500" b="1" dirty="0">
                <a:solidFill>
                  <a:schemeClr val="tx1"/>
                </a:solidFill>
              </a:rPr>
              <a:t>Sample Images: </a:t>
            </a:r>
            <a:r>
              <a:rPr lang="en-US" altLang="en-US" sz="2500" dirty="0">
                <a:solidFill>
                  <a:schemeClr val="tx1"/>
                </a:solidFill>
              </a:rPr>
              <a:t>Includes real CT scans of Stroke-affected and normal brain images with variations in size, shape, and location</a:t>
            </a:r>
          </a:p>
          <a:p>
            <a:pPr marL="0" indent="0" algn="just">
              <a:lnSpc>
                <a:spcPct val="150000"/>
              </a:lnSpc>
              <a:buNone/>
              <a:defRPr/>
            </a:pPr>
            <a:r>
              <a:rPr lang="en-US" altLang="en-US" sz="2500" b="1" dirty="0">
                <a:solidFill>
                  <a:schemeClr val="tx1"/>
                </a:solidFill>
              </a:rPr>
              <a:t>Train–Test Split:</a:t>
            </a:r>
            <a:r>
              <a:rPr lang="en-US" altLang="en-US" sz="2500" dirty="0">
                <a:solidFill>
                  <a:schemeClr val="tx1"/>
                </a:solidFill>
              </a:rPr>
              <a:t> 80% training data and 20% testing data</a:t>
            </a:r>
          </a:p>
          <a:p>
            <a:pPr marL="0" indent="0">
              <a:buNone/>
              <a:defRPr/>
            </a:pPr>
            <a:endParaRPr lang="en-IN" altLang="en-US" sz="2500" dirty="0">
              <a:solidFill>
                <a:schemeClr val="tx1"/>
              </a:solidFill>
            </a:endParaRPr>
          </a:p>
          <a:p>
            <a:endParaRPr lang="en-IN" sz="2500"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8</a:t>
            </a:fld>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Model</a:t>
            </a:r>
          </a:p>
        </p:txBody>
      </p:sp>
      <p:sp>
        <p:nvSpPr>
          <p:cNvPr id="3" name="Content Placeholder 2"/>
          <p:cNvSpPr>
            <a:spLocks noGrp="1"/>
          </p:cNvSpPr>
          <p:nvPr>
            <p:ph idx="1"/>
          </p:nvPr>
        </p:nvSpPr>
        <p:spPr>
          <a:xfrm>
            <a:off x="838200" y="1219200"/>
            <a:ext cx="10515600" cy="4957763"/>
          </a:xfrm>
        </p:spPr>
        <p:txBody>
          <a:bodyPr>
            <a:normAutofit/>
          </a:bodyPr>
          <a:lstStyle/>
          <a:p>
            <a:pPr marL="0" indent="0" algn="just">
              <a:buNone/>
              <a:defRPr/>
            </a:pPr>
            <a:r>
              <a:rPr lang="en-US" altLang="en-US" sz="2500" b="1" dirty="0">
                <a:solidFill>
                  <a:schemeClr val="tx1"/>
                </a:solidFill>
              </a:rPr>
              <a:t>Type of Model:</a:t>
            </a:r>
            <a:r>
              <a:rPr lang="en-US" altLang="en-US" sz="2500" dirty="0">
                <a:solidFill>
                  <a:schemeClr val="tx1"/>
                </a:solidFill>
              </a:rPr>
              <a:t> CNNs (</a:t>
            </a:r>
            <a:r>
              <a:rPr lang="en-US" altLang="en-US" sz="2500" dirty="0" err="1">
                <a:solidFill>
                  <a:schemeClr val="tx1"/>
                </a:solidFill>
              </a:rPr>
              <a:t>ResNet</a:t>
            </a:r>
            <a:r>
              <a:rPr lang="en-US" altLang="en-US" sz="2500" dirty="0">
                <a:solidFill>
                  <a:schemeClr val="tx1"/>
                </a:solidFill>
              </a:rPr>
              <a:t>) :</a:t>
            </a:r>
          </a:p>
          <a:p>
            <a:pPr marL="0" indent="0">
              <a:buNone/>
              <a:defRPr/>
            </a:pPr>
            <a:endParaRPr lang="en-IN" altLang="en-US" dirty="0">
              <a:solidFill>
                <a:schemeClr val="tx1"/>
              </a:solidFill>
              <a:latin typeface="Arial" panose="020B0604020202020204" pitchFamily="34" charset="0"/>
              <a:cs typeface="Arial" panose="020B0604020202020204" pitchFamily="34" charset="0"/>
            </a:endParaRPr>
          </a:p>
          <a:p>
            <a:pPr marL="0" indent="0">
              <a:buNone/>
            </a:pPr>
            <a:endParaRPr lang="en-IN"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9</a:t>
            </a:fld>
            <a:endParaRPr lang="en-IN"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F439FE0-267B-FA74-4449-12BE10E7907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9916" y="2404395"/>
            <a:ext cx="7998777" cy="25748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425E2-A196-8105-023A-5E4453B44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C0FD4-5879-3415-EBD7-9998C6437FFC}"/>
              </a:ext>
            </a:extLst>
          </p:cNvPr>
          <p:cNvSpPr>
            <a:spLocks noGrp="1"/>
          </p:cNvSpPr>
          <p:nvPr>
            <p:ph type="title"/>
          </p:nvPr>
        </p:nvSpPr>
        <p:spPr>
          <a:xfrm>
            <a:off x="452120" y="289559"/>
            <a:ext cx="8864600" cy="782955"/>
          </a:xfrm>
        </p:spPr>
        <p:txBody>
          <a:bodyPr/>
          <a:lstStyle/>
          <a:p>
            <a:endParaRPr lang="en-US" b="1" dirty="0"/>
          </a:p>
        </p:txBody>
      </p:sp>
      <p:sp>
        <p:nvSpPr>
          <p:cNvPr id="3" name="Content Placeholder 2">
            <a:extLst>
              <a:ext uri="{FF2B5EF4-FFF2-40B4-BE49-F238E27FC236}">
                <a16:creationId xmlns:a16="http://schemas.microsoft.com/office/drawing/2014/main" id="{9B17FAA5-34F0-894D-42F4-0A3EF7BC4552}"/>
              </a:ext>
            </a:extLst>
          </p:cNvPr>
          <p:cNvSpPr>
            <a:spLocks noGrp="1"/>
          </p:cNvSpPr>
          <p:nvPr>
            <p:ph idx="1"/>
          </p:nvPr>
        </p:nvSpPr>
        <p:spPr>
          <a:xfrm>
            <a:off x="838200" y="1219200"/>
            <a:ext cx="10515600" cy="4957763"/>
          </a:xfrm>
        </p:spPr>
        <p:txBody>
          <a:bodyPr>
            <a:normAutofit/>
          </a:bodyPr>
          <a:lstStyle/>
          <a:p>
            <a:pPr marL="0" indent="0" algn="just">
              <a:buNone/>
              <a:defRPr/>
            </a:pPr>
            <a:r>
              <a:rPr lang="en-US" altLang="en-US" sz="2500" b="1" dirty="0" err="1">
                <a:solidFill>
                  <a:schemeClr val="tx1"/>
                </a:solidFill>
              </a:rPr>
              <a:t>SqueezeNet</a:t>
            </a:r>
            <a:r>
              <a:rPr lang="en-US" altLang="en-US" sz="2500" b="1" dirty="0">
                <a:solidFill>
                  <a:schemeClr val="tx1"/>
                </a:solidFill>
              </a:rPr>
              <a:t> :</a:t>
            </a:r>
            <a:endParaRPr lang="en-IN" dirty="0">
              <a:solidFill>
                <a:schemeClr val="tx1"/>
              </a:solidFill>
            </a:endParaRPr>
          </a:p>
        </p:txBody>
      </p:sp>
      <p:sp>
        <p:nvSpPr>
          <p:cNvPr id="4" name="Footer Placeholder 3">
            <a:extLst>
              <a:ext uri="{FF2B5EF4-FFF2-40B4-BE49-F238E27FC236}">
                <a16:creationId xmlns:a16="http://schemas.microsoft.com/office/drawing/2014/main" id="{5203EC44-8DC8-D885-B25A-27B2C9AE2CFF}"/>
              </a:ext>
            </a:extLst>
          </p:cNvPr>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a:extLst>
              <a:ext uri="{FF2B5EF4-FFF2-40B4-BE49-F238E27FC236}">
                <a16:creationId xmlns:a16="http://schemas.microsoft.com/office/drawing/2014/main" id="{71D4AA4F-22F0-05E9-35D6-D32A97F474C4}"/>
              </a:ext>
            </a:extLst>
          </p:cNvPr>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a:extLst>
              <a:ext uri="{FF2B5EF4-FFF2-40B4-BE49-F238E27FC236}">
                <a16:creationId xmlns:a16="http://schemas.microsoft.com/office/drawing/2014/main" id="{76DD9CEE-0A43-040B-10B1-CF6670DD5F59}"/>
              </a:ext>
            </a:extLst>
          </p:cNvPr>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10</a:t>
            </a:fld>
            <a:endParaRPr lang="en-IN" b="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563D92E5-DF86-0725-49EE-8DB69612DF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35706" y="2133600"/>
            <a:ext cx="7170820" cy="3368842"/>
          </a:xfrm>
          <a:prstGeom prst="rect">
            <a:avLst/>
          </a:prstGeom>
          <a:noFill/>
          <a:ln>
            <a:noFill/>
          </a:ln>
        </p:spPr>
      </p:pic>
    </p:spTree>
    <p:extLst>
      <p:ext uri="{BB962C8B-B14F-4D97-AF65-F5344CB8AC3E}">
        <p14:creationId xmlns:p14="http://schemas.microsoft.com/office/powerpoint/2010/main" val="2276123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11</a:t>
            </a:fld>
            <a:endParaRPr lang="en-IN"/>
          </a:p>
        </p:txBody>
      </p:sp>
      <p:sp>
        <p:nvSpPr>
          <p:cNvPr id="12" name="Rectangle 7">
            <a:extLst>
              <a:ext uri="{FF2B5EF4-FFF2-40B4-BE49-F238E27FC236}">
                <a16:creationId xmlns:a16="http://schemas.microsoft.com/office/drawing/2014/main" id="{38AB099D-A507-03B7-6399-74B0FFEAB6E1}"/>
              </a:ext>
            </a:extLst>
          </p:cNvPr>
          <p:cNvSpPr>
            <a:spLocks noGrp="1" noChangeArrowheads="1"/>
          </p:cNvSpPr>
          <p:nvPr>
            <p:ph idx="1"/>
          </p:nvPr>
        </p:nvSpPr>
        <p:spPr bwMode="auto">
          <a:xfrm>
            <a:off x="693337" y="983725"/>
            <a:ext cx="11073284" cy="521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rPr>
              <a:t>Input CT scan image is processed through initial convolution layers with batch normalization and </a:t>
            </a:r>
            <a:r>
              <a:rPr kumimoji="0" lang="en-US" altLang="en-US" sz="2500" i="0" u="none" strike="noStrike" cap="none" normalizeH="0" baseline="0" dirty="0" err="1">
                <a:ln>
                  <a:noFill/>
                </a:ln>
                <a:solidFill>
                  <a:schemeClr val="tx1"/>
                </a:solidFill>
                <a:effectLst/>
              </a:rPr>
              <a:t>ReLU</a:t>
            </a:r>
            <a:r>
              <a:rPr kumimoji="0" lang="en-US" altLang="en-US" sz="2500" i="0" u="none" strike="noStrike" cap="none" normalizeH="0" baseline="0" dirty="0">
                <a:ln>
                  <a:noFill/>
                </a:ln>
                <a:solidFill>
                  <a:schemeClr val="tx1"/>
                </a:solidFill>
                <a:effectLst/>
              </a:rPr>
              <a:t> activation to extract basic spatial features.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rPr>
              <a:t>Max-pooling is applied to reduce image dimensions and improve computational efficiency.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rPr>
              <a:t>Deep feature extraction is performed using ResNet50 residual blocks, which help in learning complex patterns and avoid vanishing gradient problems . Additional feature refinement layers enhance fine-grained details for better stroke detection. </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500" i="0" u="none" strike="noStrike" cap="none" normalizeH="0" baseline="0" dirty="0">
                <a:ln>
                  <a:noFill/>
                </a:ln>
                <a:solidFill>
                  <a:schemeClr val="tx1"/>
                </a:solidFill>
                <a:effectLst/>
              </a:rPr>
              <a:t>Final classification is done using fully connected layers with a sigmoid activation function to predict stroke or normal condition.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IN" b="1" dirty="0"/>
              <a:t>Training Process</a:t>
            </a:r>
          </a:p>
        </p:txBody>
      </p:sp>
      <p:sp>
        <p:nvSpPr>
          <p:cNvPr id="3" name="Content Placeholder 2"/>
          <p:cNvSpPr>
            <a:spLocks noGrp="1"/>
          </p:cNvSpPr>
          <p:nvPr>
            <p:ph idx="1"/>
          </p:nvPr>
        </p:nvSpPr>
        <p:spPr>
          <a:xfrm>
            <a:off x="838200" y="1219200"/>
            <a:ext cx="10515600" cy="4957763"/>
          </a:xfrm>
        </p:spPr>
        <p:txBody>
          <a:bodyPr>
            <a:normAutofit/>
          </a:bodyPr>
          <a:lstStyle/>
          <a:p>
            <a:r>
              <a:rPr lang="en-US" sz="2500" dirty="0">
                <a:solidFill>
                  <a:schemeClr val="tx1"/>
                </a:solidFill>
              </a:rPr>
              <a:t>Number of epochs set to 18 for efficient training </a:t>
            </a:r>
          </a:p>
          <a:p>
            <a:r>
              <a:rPr lang="en-US" sz="2500" dirty="0">
                <a:solidFill>
                  <a:schemeClr val="tx1"/>
                </a:solidFill>
              </a:rPr>
              <a:t>Batch size configured as 16 for optimal learning stability </a:t>
            </a:r>
          </a:p>
          <a:p>
            <a:r>
              <a:rPr lang="en-US" sz="2500" dirty="0">
                <a:solidFill>
                  <a:schemeClr val="tx1"/>
                </a:solidFill>
              </a:rPr>
              <a:t>Adam optimizer used for faster convergence </a:t>
            </a:r>
          </a:p>
          <a:p>
            <a:r>
              <a:rPr lang="en-US" sz="2500" dirty="0">
                <a:solidFill>
                  <a:schemeClr val="tx1"/>
                </a:solidFill>
              </a:rPr>
              <a:t>Learning rate initialized at 0.001 </a:t>
            </a:r>
          </a:p>
          <a:p>
            <a:r>
              <a:rPr lang="en-US" sz="2500" dirty="0">
                <a:solidFill>
                  <a:schemeClr val="tx1"/>
                </a:solidFill>
              </a:rPr>
              <a:t>Loss function used: Binary Cross Entropy</a:t>
            </a:r>
          </a:p>
          <a:p>
            <a:pPr marL="0" indent="0">
              <a:buNone/>
            </a:pPr>
            <a:endParaRPr lang="en-US" sz="2500" dirty="0">
              <a:solidFill>
                <a:schemeClr val="tx1"/>
              </a:solidFill>
            </a:endParaRPr>
          </a:p>
          <a:p>
            <a:r>
              <a:rPr lang="en-US" sz="2500" dirty="0">
                <a:solidFill>
                  <a:schemeClr val="tx1"/>
                </a:solidFill>
              </a:rPr>
              <a:t>Hardware Used</a:t>
            </a:r>
          </a:p>
          <a:p>
            <a:r>
              <a:rPr lang="en-US" sz="2500" dirty="0">
                <a:solidFill>
                  <a:schemeClr val="tx1"/>
                </a:solidFill>
              </a:rPr>
              <a:t>System RAM: 16 GB </a:t>
            </a:r>
          </a:p>
          <a:p>
            <a:r>
              <a:rPr lang="en-US" sz="2500" dirty="0">
                <a:solidFill>
                  <a:schemeClr val="tx1"/>
                </a:solidFill>
              </a:rPr>
              <a:t>Processor: Intel i5 </a:t>
            </a:r>
          </a:p>
          <a:p>
            <a:r>
              <a:rPr lang="en-US" sz="2500" dirty="0">
                <a:solidFill>
                  <a:schemeClr val="tx1"/>
                </a:solidFill>
              </a:rPr>
              <a:t>GPU:  Kaggle’s Cloud GPU  (for accelerated training) </a:t>
            </a:r>
          </a:p>
          <a:p>
            <a:pPr marL="0" indent="0">
              <a:buNone/>
            </a:pPr>
            <a:endParaRPr lang="en-US" sz="2500"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12</a:t>
            </a:fld>
            <a:endParaRPr lang="en-IN" b="1" dirty="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500" dirty="0">
                <a:solidFill>
                  <a:schemeClr val="tx1"/>
                </a:solidFill>
              </a:rPr>
              <a:t>Training Strategy</a:t>
            </a:r>
          </a:p>
          <a:p>
            <a:r>
              <a:rPr lang="en-US" sz="2500" dirty="0">
                <a:solidFill>
                  <a:schemeClr val="tx1"/>
                </a:solidFill>
              </a:rPr>
              <a:t>Applied Early Stopping to prevent overfitting </a:t>
            </a:r>
          </a:p>
          <a:p>
            <a:r>
              <a:rPr lang="en-US" sz="2500" dirty="0">
                <a:solidFill>
                  <a:schemeClr val="tx1"/>
                </a:solidFill>
              </a:rPr>
              <a:t>Used Model Checkpoints to save best-performing model </a:t>
            </a:r>
          </a:p>
          <a:p>
            <a:pPr marL="0" indent="0">
              <a:buNone/>
            </a:pPr>
            <a:endParaRPr lang="en-US" sz="2500" dirty="0">
              <a:solidFill>
                <a:schemeClr val="tx1"/>
              </a:solidFill>
            </a:endParaRPr>
          </a:p>
          <a:p>
            <a:r>
              <a:rPr lang="en-US" sz="2500" dirty="0">
                <a:solidFill>
                  <a:schemeClr val="tx1"/>
                </a:solidFill>
              </a:rPr>
              <a:t>Training Performance</a:t>
            </a:r>
          </a:p>
          <a:p>
            <a:r>
              <a:rPr lang="en-US" sz="2500" dirty="0">
                <a:solidFill>
                  <a:schemeClr val="tx1"/>
                </a:solidFill>
              </a:rPr>
              <a:t>Training curves show decreasing loss over epochs </a:t>
            </a:r>
          </a:p>
          <a:p>
            <a:r>
              <a:rPr lang="en-US" sz="2500" dirty="0">
                <a:solidFill>
                  <a:schemeClr val="tx1"/>
                </a:solidFill>
              </a:rPr>
              <a:t>Accuracy consistently improves during training </a:t>
            </a:r>
          </a:p>
          <a:p>
            <a:r>
              <a:rPr lang="en-US" sz="2500" dirty="0">
                <a:solidFill>
                  <a:schemeClr val="tx1"/>
                </a:solidFill>
              </a:rPr>
              <a:t>Model demonstrates minimal overfitting and good generalization</a:t>
            </a:r>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System Implementation &amp; Testing</a:t>
            </a: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14</a:t>
            </a:fld>
            <a:endParaRPr lang="en-IN" b="1"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47956886-D1AC-B2CC-988F-FEA9F0B243AF}"/>
              </a:ext>
            </a:extLst>
          </p:cNvPr>
          <p:cNvSpPr txBox="1"/>
          <p:nvPr/>
        </p:nvSpPr>
        <p:spPr>
          <a:xfrm>
            <a:off x="993058" y="1179870"/>
            <a:ext cx="9789242" cy="4062779"/>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Backend of the system is developed using Flask, which includes files such as app.py for handling API requests, the trained ResNet50 model file (</a:t>
            </a:r>
            <a:r>
              <a:rPr lang="en-US" sz="2500" dirty="0" err="1">
                <a:latin typeface="Times New Roman" panose="02020603050405020304" pitchFamily="18" charset="0"/>
                <a:cs typeface="Times New Roman" panose="02020603050405020304" pitchFamily="18" charset="0"/>
              </a:rPr>
              <a:t>model.keras</a:t>
            </a:r>
            <a:r>
              <a:rPr lang="en-US" sz="2500" dirty="0">
                <a:latin typeface="Times New Roman" panose="02020603050405020304" pitchFamily="18" charset="0"/>
                <a:cs typeface="Times New Roman" panose="02020603050405020304" pitchFamily="18" charset="0"/>
              </a:rPr>
              <a:t> ), and preprocessing scripts for image handling.</a:t>
            </a:r>
          </a:p>
          <a:p>
            <a:pPr marL="342900" indent="-342900" algn="just">
              <a:lnSpc>
                <a:spcPct val="150000"/>
              </a:lnSpc>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The frontend is developed using React and consists of components such as Navbar, Home, Prediction, History, Login, and Register. Additional files like App.js and index.css are used for routing and styling of the application.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0290"/>
            <a:ext cx="10515600" cy="5126990"/>
          </a:xfrm>
        </p:spPr>
        <p:txBody>
          <a:bodyPr>
            <a:noAutofit/>
          </a:bodyPr>
          <a:lstStyle/>
          <a:p>
            <a:pPr>
              <a:lnSpc>
                <a:spcPct val="150000"/>
              </a:lnSpc>
              <a:buNone/>
            </a:pPr>
            <a:r>
              <a:rPr lang="en-US" sz="2400" b="1" dirty="0">
                <a:solidFill>
                  <a:schemeClr val="tx1"/>
                </a:solidFill>
              </a:rPr>
              <a:t>Functional Testing:</a:t>
            </a:r>
            <a:br>
              <a:rPr lang="en-US" sz="2400" dirty="0">
                <a:solidFill>
                  <a:schemeClr val="tx1"/>
                </a:solidFill>
              </a:rPr>
            </a:br>
            <a:r>
              <a:rPr lang="en-US" sz="2400" dirty="0">
                <a:solidFill>
                  <a:schemeClr val="tx1"/>
                </a:solidFill>
              </a:rPr>
              <a:t>Functional testing is performed to verify the correctness of the prediction results. The system ensures that the uploaded CT scan image is properly processed and the output (Stroke / No Stroke) is accurately displayed to the user.</a:t>
            </a:r>
          </a:p>
          <a:p>
            <a:pPr>
              <a:lnSpc>
                <a:spcPct val="150000"/>
              </a:lnSpc>
              <a:buNone/>
            </a:pPr>
            <a:r>
              <a:rPr lang="en-US" sz="2400" b="1" dirty="0">
                <a:solidFill>
                  <a:schemeClr val="tx1"/>
                </a:solidFill>
              </a:rPr>
              <a:t>Integration Testing:</a:t>
            </a:r>
            <a:br>
              <a:rPr lang="en-US" sz="2400" dirty="0">
                <a:solidFill>
                  <a:schemeClr val="tx1"/>
                </a:solidFill>
              </a:rPr>
            </a:br>
            <a:r>
              <a:rPr lang="en-US" sz="2400" dirty="0">
                <a:solidFill>
                  <a:schemeClr val="tx1"/>
                </a:solidFill>
              </a:rPr>
              <a:t>Integration testing is carried out to validate the communication between the frontend and backend. The system is tested for proper API interaction, smooth data flow, and complete end-to-end workflow from image upload to prediction result display.</a:t>
            </a:r>
          </a:p>
          <a:p>
            <a:pPr>
              <a:lnSpc>
                <a:spcPct val="150000"/>
              </a:lnSpc>
            </a:pPr>
            <a:endParaRPr lang="en-US" sz="2400" dirty="0">
              <a:solidFill>
                <a:schemeClr val="tx1"/>
              </a:solidFill>
            </a:endParaRPr>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15</a:t>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Screens</a:t>
            </a:r>
          </a:p>
        </p:txBody>
      </p:sp>
      <p:sp>
        <p:nvSpPr>
          <p:cNvPr id="3" name="Content Placeholder 2"/>
          <p:cNvSpPr>
            <a:spLocks noGrp="1"/>
          </p:cNvSpPr>
          <p:nvPr>
            <p:ph idx="1"/>
          </p:nvPr>
        </p:nvSpPr>
        <p:spPr>
          <a:xfrm>
            <a:off x="838200" y="1219200"/>
            <a:ext cx="10515600" cy="4957763"/>
          </a:xfrm>
        </p:spPr>
        <p:txBody>
          <a:bodyPr>
            <a:normAutofit/>
          </a:bodyPr>
          <a:lstStyle/>
          <a:p>
            <a:pPr marL="0" indent="0">
              <a:buNone/>
              <a:defRPr/>
            </a:pPr>
            <a:r>
              <a:rPr lang="en-US" altLang="en-IN" sz="2500" b="1" dirty="0">
                <a:solidFill>
                  <a:schemeClr val="tx1"/>
                </a:solidFill>
              </a:rPr>
              <a:t>Home Page:</a:t>
            </a:r>
            <a:endParaRPr lang="en-IN" altLang="en-US" sz="2500" b="1" dirty="0">
              <a:solidFill>
                <a:schemeClr val="tx1"/>
              </a:solidFill>
            </a:endParaRPr>
          </a:p>
          <a:p>
            <a:pPr marL="0" indent="0">
              <a:buNone/>
            </a:pPr>
            <a:endParaRPr lang="en-IN" sz="2500" dirty="0">
              <a:solidFill>
                <a:schemeClr val="tx1"/>
              </a:solidFill>
            </a:endParaRP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16</a:t>
            </a:fld>
            <a:endParaRPr lang="en-IN" b="1"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729B3A33-9742-DD8F-077F-B9B971EFE19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1187" y="1427752"/>
            <a:ext cx="8071168" cy="454065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0521" y="1160616"/>
            <a:ext cx="11503660" cy="4351655"/>
          </a:xfrm>
        </p:spPr>
        <p:txBody>
          <a:bodyPr/>
          <a:lstStyle/>
          <a:p>
            <a:pPr marL="0" indent="0">
              <a:buNone/>
            </a:pPr>
            <a:r>
              <a:rPr lang="en-IN" b="1" dirty="0">
                <a:solidFill>
                  <a:schemeClr val="tx1"/>
                </a:solidFill>
              </a:rPr>
              <a:t>Image Upload and Input Handling</a:t>
            </a:r>
            <a:r>
              <a:rPr lang="en-US" b="1" dirty="0">
                <a:solidFill>
                  <a:schemeClr val="tx1"/>
                </a:solidFill>
              </a:rPr>
              <a:t>:</a:t>
            </a:r>
          </a:p>
          <a:p>
            <a:pPr marL="0" indent="0">
              <a:buNone/>
            </a:pPr>
            <a:endParaRPr lang="en-US" b="1" dirty="0"/>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17</a:t>
            </a:fld>
            <a:endParaRPr lang="en-IN"/>
          </a:p>
        </p:txBody>
      </p:sp>
      <p:pic>
        <p:nvPicPr>
          <p:cNvPr id="9" name="Picture 8">
            <a:extLst>
              <a:ext uri="{FF2B5EF4-FFF2-40B4-BE49-F238E27FC236}">
                <a16:creationId xmlns:a16="http://schemas.microsoft.com/office/drawing/2014/main" id="{4F604598-6637-12F7-88D2-23E54E0AD2F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499" y="1822450"/>
            <a:ext cx="7862119" cy="442025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1555" y="1088205"/>
            <a:ext cx="10515600" cy="4351338"/>
          </a:xfrm>
        </p:spPr>
        <p:txBody>
          <a:bodyPr/>
          <a:lstStyle/>
          <a:p>
            <a:pPr marL="0" indent="0">
              <a:buNone/>
            </a:pPr>
            <a:r>
              <a:rPr lang="en-IN" sz="2500" b="1" dirty="0">
                <a:solidFill>
                  <a:schemeClr val="tx1"/>
                </a:solidFill>
              </a:rPr>
              <a:t>Stroke Prediction Result Interface :</a:t>
            </a:r>
            <a:endParaRPr lang="en-IN" sz="2500" dirty="0">
              <a:solidFill>
                <a:schemeClr val="tx1"/>
              </a:solidFill>
            </a:endParaRPr>
          </a:p>
          <a:p>
            <a:pPr marL="0" indent="0">
              <a:buNone/>
            </a:pPr>
            <a:endParaRPr lang="en-US" dirty="0"/>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18</a:t>
            </a:fld>
            <a:endParaRPr lang="en-IN"/>
          </a:p>
        </p:txBody>
      </p:sp>
      <p:pic>
        <p:nvPicPr>
          <p:cNvPr id="8" name="Picture 7">
            <a:extLst>
              <a:ext uri="{FF2B5EF4-FFF2-40B4-BE49-F238E27FC236}">
                <a16:creationId xmlns:a16="http://schemas.microsoft.com/office/drawing/2014/main" id="{B52F56FE-364B-F2AE-57DD-F870D61EFB2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5849" y="1668319"/>
            <a:ext cx="7867012" cy="44240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DE5D5-12D1-91E8-39A4-3CA0ED2A2A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3AE9CC-BB81-0A2E-A6FE-25FB0A15F699}"/>
              </a:ext>
            </a:extLst>
          </p:cNvPr>
          <p:cNvSpPr>
            <a:spLocks noGrp="1"/>
          </p:cNvSpPr>
          <p:nvPr>
            <p:ph idx="1"/>
          </p:nvPr>
        </p:nvSpPr>
        <p:spPr>
          <a:xfrm>
            <a:off x="334297" y="855406"/>
            <a:ext cx="10822858" cy="4584137"/>
          </a:xfrm>
        </p:spPr>
        <p:txBody>
          <a:bodyPr/>
          <a:lstStyle/>
          <a:p>
            <a:pPr marL="0" indent="0">
              <a:buNone/>
            </a:pPr>
            <a:r>
              <a:rPr lang="en-IN" sz="2500" b="1" dirty="0">
                <a:solidFill>
                  <a:schemeClr val="tx1"/>
                </a:solidFill>
              </a:rPr>
              <a:t>Admin Dashboard and Analytics:</a:t>
            </a:r>
            <a:endParaRPr lang="en-IN" sz="2500" dirty="0">
              <a:solidFill>
                <a:schemeClr val="tx1"/>
              </a:solidFill>
            </a:endParaRPr>
          </a:p>
          <a:p>
            <a:pPr marL="0" indent="0">
              <a:buNone/>
            </a:pPr>
            <a:endParaRPr lang="en-US" dirty="0"/>
          </a:p>
        </p:txBody>
      </p:sp>
      <p:sp>
        <p:nvSpPr>
          <p:cNvPr id="4" name="Date Placeholder 3">
            <a:extLst>
              <a:ext uri="{FF2B5EF4-FFF2-40B4-BE49-F238E27FC236}">
                <a16:creationId xmlns:a16="http://schemas.microsoft.com/office/drawing/2014/main" id="{85CEB2AD-6193-8214-E6CC-3526EE156681}"/>
              </a:ext>
            </a:extLst>
          </p:cNvPr>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a:extLst>
              <a:ext uri="{FF2B5EF4-FFF2-40B4-BE49-F238E27FC236}">
                <a16:creationId xmlns:a16="http://schemas.microsoft.com/office/drawing/2014/main" id="{3C60C9BF-8B8C-8C02-3ABD-3F94A54FA212}"/>
              </a:ext>
            </a:extLst>
          </p:cNvPr>
          <p:cNvSpPr>
            <a:spLocks noGrp="1"/>
          </p:cNvSpPr>
          <p:nvPr>
            <p:ph type="ftr" sz="quarter" idx="11"/>
          </p:nvPr>
        </p:nvSpPr>
        <p:spPr/>
        <p:txBody>
          <a:bodyPr/>
          <a:lstStyle/>
          <a:p>
            <a:r>
              <a:rPr lang="en-US"/>
              <a:t>Department of CSE( AI &amp; ML) </a:t>
            </a:r>
            <a:endParaRPr lang="en-IN"/>
          </a:p>
        </p:txBody>
      </p:sp>
      <p:sp>
        <p:nvSpPr>
          <p:cNvPr id="6" name="Slide Number Placeholder 5">
            <a:extLst>
              <a:ext uri="{FF2B5EF4-FFF2-40B4-BE49-F238E27FC236}">
                <a16:creationId xmlns:a16="http://schemas.microsoft.com/office/drawing/2014/main" id="{77989870-F06C-3607-2EAB-B7CCC3A64FA6}"/>
              </a:ext>
            </a:extLst>
          </p:cNvPr>
          <p:cNvSpPr>
            <a:spLocks noGrp="1"/>
          </p:cNvSpPr>
          <p:nvPr>
            <p:ph type="sldNum" sz="quarter" idx="12"/>
          </p:nvPr>
        </p:nvSpPr>
        <p:spPr/>
        <p:txBody>
          <a:bodyPr/>
          <a:lstStyle/>
          <a:p>
            <a:fld id="{68E22B1B-3C73-49A3-AAA4-1ABA7C6D03ED}" type="slidenum">
              <a:rPr lang="en-IN" smtClean="0"/>
              <a:t>19</a:t>
            </a:fld>
            <a:endParaRPr lang="en-IN"/>
          </a:p>
        </p:txBody>
      </p:sp>
      <p:pic>
        <p:nvPicPr>
          <p:cNvPr id="2" name="Picture 1">
            <a:extLst>
              <a:ext uri="{FF2B5EF4-FFF2-40B4-BE49-F238E27FC236}">
                <a16:creationId xmlns:a16="http://schemas.microsoft.com/office/drawing/2014/main" id="{B6CFB804-D36A-3E8F-0EF1-783FCB97A9A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7971" y="1573162"/>
            <a:ext cx="8287418" cy="4660490"/>
          </a:xfrm>
          <a:prstGeom prst="rect">
            <a:avLst/>
          </a:prstGeom>
          <a:noFill/>
          <a:ln>
            <a:noFill/>
          </a:ln>
        </p:spPr>
      </p:pic>
    </p:spTree>
    <p:extLst>
      <p:ext uri="{BB962C8B-B14F-4D97-AF65-F5344CB8AC3E}">
        <p14:creationId xmlns:p14="http://schemas.microsoft.com/office/powerpoint/2010/main" val="234268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Accuracy Graph:</a:t>
            </a:r>
          </a:p>
          <a:p>
            <a:pPr marL="0" indent="0">
              <a:buNone/>
            </a:pPr>
            <a:endParaRPr lang="en-US" b="1"/>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20</a:t>
            </a:fld>
            <a:endParaRPr lang="en-IN"/>
          </a:p>
        </p:txBody>
      </p:sp>
      <p:pic>
        <p:nvPicPr>
          <p:cNvPr id="8" name="Picture 7">
            <a:extLst>
              <a:ext uri="{FF2B5EF4-FFF2-40B4-BE49-F238E27FC236}">
                <a16:creationId xmlns:a16="http://schemas.microsoft.com/office/drawing/2014/main" id="{6D9F67A8-1B65-5B9B-44B6-42FF8E806A44}"/>
              </a:ext>
            </a:extLst>
          </p:cNvPr>
          <p:cNvPicPr>
            <a:picLocks noChangeAspect="1"/>
          </p:cNvPicPr>
          <p:nvPr/>
        </p:nvPicPr>
        <p:blipFill rotWithShape="1">
          <a:blip r:embed="rId2">
            <a:extLst>
              <a:ext uri="{28A0092B-C50C-407E-A947-70E740481C1C}">
                <a14:useLocalDpi xmlns:a14="http://schemas.microsoft.com/office/drawing/2010/main" val="0"/>
              </a:ext>
            </a:extLst>
          </a:blip>
          <a:srcRect l="9944" t="37230" r="60961" b="18343"/>
          <a:stretch>
            <a:fillRect/>
          </a:stretch>
        </p:blipFill>
        <p:spPr bwMode="auto">
          <a:xfrm>
            <a:off x="4694493" y="1445905"/>
            <a:ext cx="5359400" cy="455612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Loss Graph:</a:t>
            </a:r>
          </a:p>
          <a:p>
            <a:pPr marL="0" indent="0">
              <a:buNone/>
            </a:pPr>
            <a:endParaRPr lang="en-US" b="1"/>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21</a:t>
            </a:fld>
            <a:endParaRPr lang="en-IN"/>
          </a:p>
        </p:txBody>
      </p:sp>
      <p:pic>
        <p:nvPicPr>
          <p:cNvPr id="8" name="Picture 7">
            <a:extLst>
              <a:ext uri="{FF2B5EF4-FFF2-40B4-BE49-F238E27FC236}">
                <a16:creationId xmlns:a16="http://schemas.microsoft.com/office/drawing/2014/main" id="{4F662616-5CDA-F978-E9BB-2D78538781F7}"/>
              </a:ext>
            </a:extLst>
          </p:cNvPr>
          <p:cNvPicPr>
            <a:picLocks noChangeAspect="1"/>
          </p:cNvPicPr>
          <p:nvPr/>
        </p:nvPicPr>
        <p:blipFill rotWithShape="1">
          <a:blip r:embed="rId2">
            <a:extLst>
              <a:ext uri="{28A0092B-C50C-407E-A947-70E740481C1C}">
                <a14:useLocalDpi xmlns:a14="http://schemas.microsoft.com/office/drawing/2010/main" val="0"/>
              </a:ext>
            </a:extLst>
          </a:blip>
          <a:srcRect l="37687" t="37768" r="33084" b="16149"/>
          <a:stretch>
            <a:fillRect/>
          </a:stretch>
        </p:blipFill>
        <p:spPr bwMode="auto">
          <a:xfrm>
            <a:off x="4538826" y="1343096"/>
            <a:ext cx="5238115" cy="464375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Confusion Matrix:</a:t>
            </a:r>
          </a:p>
          <a:p>
            <a:pPr marL="0" indent="0">
              <a:buNone/>
            </a:pPr>
            <a:endParaRPr lang="en-US" b="1"/>
          </a:p>
        </p:txBody>
      </p:sp>
      <p:sp>
        <p:nvSpPr>
          <p:cNvPr id="4" name="Date Placeholder 3"/>
          <p:cNvSpPr>
            <a:spLocks noGrp="1"/>
          </p:cNvSpPr>
          <p:nvPr>
            <p:ph type="dt" sz="half" idx="10"/>
          </p:nvPr>
        </p:nvSpPr>
        <p:spPr>
          <a:xfrm>
            <a:off x="838200" y="6356350"/>
            <a:ext cx="1069258" cy="365125"/>
          </a:xfrm>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22</a:t>
            </a:fld>
            <a:endParaRPr lang="en-IN"/>
          </a:p>
        </p:txBody>
      </p:sp>
      <p:pic>
        <p:nvPicPr>
          <p:cNvPr id="9" name="Picture 8">
            <a:extLst>
              <a:ext uri="{FF2B5EF4-FFF2-40B4-BE49-F238E27FC236}">
                <a16:creationId xmlns:a16="http://schemas.microsoft.com/office/drawing/2014/main" id="{A0A273D2-51E6-1870-4763-6CE0AAAE857E}"/>
              </a:ext>
            </a:extLst>
          </p:cNvPr>
          <p:cNvPicPr>
            <a:picLocks noChangeAspect="1"/>
          </p:cNvPicPr>
          <p:nvPr/>
        </p:nvPicPr>
        <p:blipFill>
          <a:blip r:embed="rId2"/>
          <a:stretch>
            <a:fillRect/>
          </a:stretch>
        </p:blipFill>
        <p:spPr>
          <a:xfrm>
            <a:off x="4470758" y="1999457"/>
            <a:ext cx="5610225" cy="42672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a:t>ROC Curves:</a:t>
            </a:r>
          </a:p>
          <a:p>
            <a:pPr marL="0" indent="0">
              <a:buNone/>
            </a:pPr>
            <a:endParaRPr lang="en-US" b="1"/>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23</a:t>
            </a:fld>
            <a:endParaRPr lang="en-IN"/>
          </a:p>
        </p:txBody>
      </p:sp>
      <p:pic>
        <p:nvPicPr>
          <p:cNvPr id="9" name="Picture 8">
            <a:extLst>
              <a:ext uri="{FF2B5EF4-FFF2-40B4-BE49-F238E27FC236}">
                <a16:creationId xmlns:a16="http://schemas.microsoft.com/office/drawing/2014/main" id="{E806B28D-D5B2-58C3-8C46-5CC00F04F9CD}"/>
              </a:ext>
            </a:extLst>
          </p:cNvPr>
          <p:cNvPicPr>
            <a:picLocks noChangeAspect="1"/>
          </p:cNvPicPr>
          <p:nvPr/>
        </p:nvPicPr>
        <p:blipFill>
          <a:blip r:embed="rId2">
            <a:extLst>
              <a:ext uri="{28A0092B-C50C-407E-A947-70E740481C1C}">
                <a14:useLocalDpi xmlns:a14="http://schemas.microsoft.com/office/drawing/2010/main" val="0"/>
              </a:ext>
            </a:extLst>
          </a:blip>
          <a:srcRect t="-1572" r="43619"/>
          <a:stretch>
            <a:fillRect/>
          </a:stretch>
        </p:blipFill>
        <p:spPr>
          <a:xfrm>
            <a:off x="5722374" y="1623524"/>
            <a:ext cx="4493342" cy="455343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b="1" dirty="0">
                <a:sym typeface="+mn-ea"/>
              </a:rPr>
              <a:t>Results &amp;  Performance Analysis</a:t>
            </a:r>
            <a:endParaRPr lang="en-US" b="1"/>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24</a:t>
            </a:fld>
            <a:endParaRPr lang="en-IN"/>
          </a:p>
        </p:txBody>
      </p:sp>
      <p:sp>
        <p:nvSpPr>
          <p:cNvPr id="10" name="Content Placeholder 9"/>
          <p:cNvSpPr>
            <a:spLocks noGrp="1"/>
          </p:cNvSpPr>
          <p:nvPr>
            <p:ph idx="1"/>
          </p:nvPr>
        </p:nvSpPr>
        <p:spPr/>
        <p:txBody>
          <a:bodyPr>
            <a:normAutofit/>
          </a:bodyPr>
          <a:lstStyle/>
          <a:p>
            <a:pPr marL="0" indent="0">
              <a:buNone/>
            </a:pPr>
            <a:r>
              <a:rPr lang="en-US" sz="2500" b="1" dirty="0">
                <a:solidFill>
                  <a:schemeClr val="tx1"/>
                </a:solidFill>
              </a:rPr>
              <a:t>Overall Accuracy:98.50%</a:t>
            </a:r>
          </a:p>
          <a:p>
            <a:pPr marL="0" indent="0">
              <a:buNone/>
            </a:pPr>
            <a:r>
              <a:rPr lang="en-US" sz="2500" b="1" dirty="0">
                <a:solidFill>
                  <a:schemeClr val="tx1"/>
                </a:solidFill>
              </a:rPr>
              <a:t>Classification Report:</a:t>
            </a:r>
          </a:p>
          <a:p>
            <a:pPr marL="0" indent="0">
              <a:buNone/>
            </a:pPr>
            <a:endParaRPr lang="en-US" sz="2500" b="1" dirty="0"/>
          </a:p>
        </p:txBody>
      </p:sp>
      <p:graphicFrame>
        <p:nvGraphicFramePr>
          <p:cNvPr id="8" name="Table 7">
            <a:extLst>
              <a:ext uri="{FF2B5EF4-FFF2-40B4-BE49-F238E27FC236}">
                <a16:creationId xmlns:a16="http://schemas.microsoft.com/office/drawing/2014/main" id="{435F8864-A646-67FB-DF74-1953DF922390}"/>
              </a:ext>
            </a:extLst>
          </p:cNvPr>
          <p:cNvGraphicFramePr>
            <a:graphicFrameLocks noGrp="1"/>
          </p:cNvGraphicFramePr>
          <p:nvPr>
            <p:extLst>
              <p:ext uri="{D42A27DB-BD31-4B8C-83A1-F6EECF244321}">
                <p14:modId xmlns:p14="http://schemas.microsoft.com/office/powerpoint/2010/main" val="1503438116"/>
              </p:ext>
            </p:extLst>
          </p:nvPr>
        </p:nvGraphicFramePr>
        <p:xfrm>
          <a:off x="838200" y="3452654"/>
          <a:ext cx="10515600" cy="1417320"/>
        </p:xfrm>
        <a:graphic>
          <a:graphicData uri="http://schemas.openxmlformats.org/drawingml/2006/table">
            <a:tbl>
              <a:tblPr/>
              <a:tblGrid>
                <a:gridCol w="2103120">
                  <a:extLst>
                    <a:ext uri="{9D8B030D-6E8A-4147-A177-3AD203B41FA5}">
                      <a16:colId xmlns:a16="http://schemas.microsoft.com/office/drawing/2014/main" val="3902755983"/>
                    </a:ext>
                  </a:extLst>
                </a:gridCol>
                <a:gridCol w="2103120">
                  <a:extLst>
                    <a:ext uri="{9D8B030D-6E8A-4147-A177-3AD203B41FA5}">
                      <a16:colId xmlns:a16="http://schemas.microsoft.com/office/drawing/2014/main" val="1028179880"/>
                    </a:ext>
                  </a:extLst>
                </a:gridCol>
                <a:gridCol w="2103120">
                  <a:extLst>
                    <a:ext uri="{9D8B030D-6E8A-4147-A177-3AD203B41FA5}">
                      <a16:colId xmlns:a16="http://schemas.microsoft.com/office/drawing/2014/main" val="3853913462"/>
                    </a:ext>
                  </a:extLst>
                </a:gridCol>
                <a:gridCol w="2103120">
                  <a:extLst>
                    <a:ext uri="{9D8B030D-6E8A-4147-A177-3AD203B41FA5}">
                      <a16:colId xmlns:a16="http://schemas.microsoft.com/office/drawing/2014/main" val="366038896"/>
                    </a:ext>
                  </a:extLst>
                </a:gridCol>
                <a:gridCol w="2103120">
                  <a:extLst>
                    <a:ext uri="{9D8B030D-6E8A-4147-A177-3AD203B41FA5}">
                      <a16:colId xmlns:a16="http://schemas.microsoft.com/office/drawing/2014/main" val="3535445334"/>
                    </a:ext>
                  </a:extLst>
                </a:gridCol>
              </a:tblGrid>
              <a:tr h="0">
                <a:tc>
                  <a:txBody>
                    <a:bodyPr/>
                    <a:lstStyle/>
                    <a:p>
                      <a:pPr>
                        <a:buNone/>
                      </a:pPr>
                      <a:r>
                        <a:rPr lang="en-IN" sz="2500">
                          <a:latin typeface="Times New Roman" panose="02020603050405020304" pitchFamily="18" charset="0"/>
                          <a:cs typeface="Times New Roman" panose="02020603050405020304" pitchFamily="18" charset="0"/>
                        </a:rPr>
                        <a:t>Class</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Precision</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Recall</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F1-Score</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Support</a:t>
                      </a:r>
                    </a:p>
                  </a:txBody>
                  <a:tcPr anchor="ctr">
                    <a:lnL>
                      <a:noFill/>
                    </a:lnL>
                    <a:lnR>
                      <a:noFill/>
                    </a:lnR>
                    <a:lnT>
                      <a:noFill/>
                    </a:lnT>
                    <a:lnB>
                      <a:noFill/>
                    </a:lnB>
                    <a:noFill/>
                  </a:tcPr>
                </a:tc>
                <a:extLst>
                  <a:ext uri="{0D108BD9-81ED-4DB2-BD59-A6C34878D82A}">
                    <a16:rowId xmlns:a16="http://schemas.microsoft.com/office/drawing/2014/main" val="631711706"/>
                  </a:ext>
                </a:extLst>
              </a:tr>
              <a:tr h="0">
                <a:tc>
                  <a:txBody>
                    <a:bodyPr/>
                    <a:lstStyle/>
                    <a:p>
                      <a:pPr>
                        <a:buNone/>
                      </a:pPr>
                      <a:r>
                        <a:rPr lang="en-IN" sz="2500" dirty="0">
                          <a:latin typeface="Times New Roman" panose="02020603050405020304" pitchFamily="18" charset="0"/>
                          <a:cs typeface="Times New Roman" panose="02020603050405020304" pitchFamily="18" charset="0"/>
                        </a:rPr>
                        <a:t>0</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0.97</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0.99</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0.98</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311</a:t>
                      </a:r>
                    </a:p>
                  </a:txBody>
                  <a:tcPr anchor="ctr">
                    <a:lnL>
                      <a:noFill/>
                    </a:lnL>
                    <a:lnR>
                      <a:noFill/>
                    </a:lnR>
                    <a:lnT>
                      <a:noFill/>
                    </a:lnT>
                    <a:lnB>
                      <a:noFill/>
                    </a:lnB>
                    <a:noFill/>
                  </a:tcPr>
                </a:tc>
                <a:extLst>
                  <a:ext uri="{0D108BD9-81ED-4DB2-BD59-A6C34878D82A}">
                    <a16:rowId xmlns:a16="http://schemas.microsoft.com/office/drawing/2014/main" val="634741787"/>
                  </a:ext>
                </a:extLst>
              </a:tr>
              <a:tr h="0">
                <a:tc>
                  <a:txBody>
                    <a:bodyPr/>
                    <a:lstStyle/>
                    <a:p>
                      <a:pPr>
                        <a:buNone/>
                      </a:pPr>
                      <a:r>
                        <a:rPr lang="en-IN" sz="25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0.98</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0.96</a:t>
                      </a:r>
                    </a:p>
                  </a:txBody>
                  <a:tcPr anchor="ctr">
                    <a:lnL>
                      <a:noFill/>
                    </a:lnL>
                    <a:lnR>
                      <a:noFill/>
                    </a:lnR>
                    <a:lnT>
                      <a:noFill/>
                    </a:lnT>
                    <a:lnB>
                      <a:noFill/>
                    </a:lnB>
                    <a:noFill/>
                  </a:tcPr>
                </a:tc>
                <a:tc>
                  <a:txBody>
                    <a:bodyPr/>
                    <a:lstStyle/>
                    <a:p>
                      <a:pPr>
                        <a:buNone/>
                      </a:pPr>
                      <a:r>
                        <a:rPr lang="en-IN" sz="2500">
                          <a:latin typeface="Times New Roman" panose="02020603050405020304" pitchFamily="18" charset="0"/>
                          <a:cs typeface="Times New Roman" panose="02020603050405020304" pitchFamily="18" charset="0"/>
                        </a:rPr>
                        <a:t>0.97</a:t>
                      </a:r>
                    </a:p>
                  </a:txBody>
                  <a:tcPr anchor="ctr">
                    <a:lnL>
                      <a:noFill/>
                    </a:lnL>
                    <a:lnR>
                      <a:noFill/>
                    </a:lnR>
                    <a:lnT>
                      <a:noFill/>
                    </a:lnT>
                    <a:lnB>
                      <a:noFill/>
                    </a:lnB>
                    <a:noFill/>
                  </a:tcPr>
                </a:tc>
                <a:tc>
                  <a:txBody>
                    <a:bodyPr/>
                    <a:lstStyle/>
                    <a:p>
                      <a:pPr>
                        <a:buNone/>
                      </a:pPr>
                      <a:r>
                        <a:rPr lang="en-IN" sz="2500" dirty="0">
                          <a:latin typeface="Times New Roman" panose="02020603050405020304" pitchFamily="18" charset="0"/>
                          <a:cs typeface="Times New Roman" panose="02020603050405020304" pitchFamily="18" charset="0"/>
                        </a:rPr>
                        <a:t>190</a:t>
                      </a:r>
                    </a:p>
                  </a:txBody>
                  <a:tcPr anchor="ctr">
                    <a:lnL>
                      <a:noFill/>
                    </a:lnL>
                    <a:lnR>
                      <a:noFill/>
                    </a:lnR>
                    <a:lnT>
                      <a:noFill/>
                    </a:lnT>
                    <a:lnB>
                      <a:noFill/>
                    </a:lnB>
                    <a:noFill/>
                  </a:tcPr>
                </a:tc>
                <a:extLst>
                  <a:ext uri="{0D108BD9-81ED-4DB2-BD59-A6C34878D82A}">
                    <a16:rowId xmlns:a16="http://schemas.microsoft.com/office/drawing/2014/main" val="1433239199"/>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IN" altLang="en-US" b="1" dirty="0" err="1"/>
              <a:t>Comparsion</a:t>
            </a:r>
            <a:r>
              <a:rPr lang="en-IN" altLang="en-US" b="1" dirty="0"/>
              <a:t> with Existing Methods</a:t>
            </a:r>
          </a:p>
          <a:p>
            <a:pPr marL="0" indent="0">
              <a:buNone/>
            </a:pPr>
            <a:endParaRPr lang="en-IN" altLang="en-US" b="1" dirty="0"/>
          </a:p>
          <a:p>
            <a:pPr marL="0" indent="0">
              <a:buNone/>
            </a:pPr>
            <a:endParaRPr lang="en-IN" altLang="en-US" b="1" dirty="0"/>
          </a:p>
          <a:p>
            <a:pPr marL="0" indent="0">
              <a:buNone/>
            </a:pPr>
            <a:endParaRPr lang="en-IN" altLang="en-US" b="1" dirty="0"/>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25</a:t>
            </a:fld>
            <a:endParaRPr lang="en-IN"/>
          </a:p>
        </p:txBody>
      </p:sp>
      <p:graphicFrame>
        <p:nvGraphicFramePr>
          <p:cNvPr id="9" name="Table 8">
            <a:extLst>
              <a:ext uri="{FF2B5EF4-FFF2-40B4-BE49-F238E27FC236}">
                <a16:creationId xmlns:a16="http://schemas.microsoft.com/office/drawing/2014/main" id="{344C860C-FF29-C876-31C8-85BAC75F0C78}"/>
              </a:ext>
            </a:extLst>
          </p:cNvPr>
          <p:cNvGraphicFramePr>
            <a:graphicFrameLocks noGrp="1"/>
          </p:cNvGraphicFramePr>
          <p:nvPr>
            <p:extLst>
              <p:ext uri="{D42A27DB-BD31-4B8C-83A1-F6EECF244321}">
                <p14:modId xmlns:p14="http://schemas.microsoft.com/office/powerpoint/2010/main" val="4287130181"/>
              </p:ext>
            </p:extLst>
          </p:nvPr>
        </p:nvGraphicFramePr>
        <p:xfrm>
          <a:off x="838199" y="2517059"/>
          <a:ext cx="9944100" cy="2084438"/>
        </p:xfrm>
        <a:graphic>
          <a:graphicData uri="http://schemas.openxmlformats.org/drawingml/2006/table">
            <a:tbl>
              <a:tblPr firstRow="1" firstCol="1" bandRow="1">
                <a:tableStyleId>{5C22544A-7EE6-4342-B048-85BDC9FD1C3A}</a:tableStyleId>
              </a:tblPr>
              <a:tblGrid>
                <a:gridCol w="1657350">
                  <a:extLst>
                    <a:ext uri="{9D8B030D-6E8A-4147-A177-3AD203B41FA5}">
                      <a16:colId xmlns:a16="http://schemas.microsoft.com/office/drawing/2014/main" val="2052756030"/>
                    </a:ext>
                  </a:extLst>
                </a:gridCol>
                <a:gridCol w="1657350">
                  <a:extLst>
                    <a:ext uri="{9D8B030D-6E8A-4147-A177-3AD203B41FA5}">
                      <a16:colId xmlns:a16="http://schemas.microsoft.com/office/drawing/2014/main" val="1234973013"/>
                    </a:ext>
                  </a:extLst>
                </a:gridCol>
                <a:gridCol w="1657350">
                  <a:extLst>
                    <a:ext uri="{9D8B030D-6E8A-4147-A177-3AD203B41FA5}">
                      <a16:colId xmlns:a16="http://schemas.microsoft.com/office/drawing/2014/main" val="1660905682"/>
                    </a:ext>
                  </a:extLst>
                </a:gridCol>
                <a:gridCol w="1657350">
                  <a:extLst>
                    <a:ext uri="{9D8B030D-6E8A-4147-A177-3AD203B41FA5}">
                      <a16:colId xmlns:a16="http://schemas.microsoft.com/office/drawing/2014/main" val="1453501012"/>
                    </a:ext>
                  </a:extLst>
                </a:gridCol>
                <a:gridCol w="1657350">
                  <a:extLst>
                    <a:ext uri="{9D8B030D-6E8A-4147-A177-3AD203B41FA5}">
                      <a16:colId xmlns:a16="http://schemas.microsoft.com/office/drawing/2014/main" val="3294458630"/>
                    </a:ext>
                  </a:extLst>
                </a:gridCol>
                <a:gridCol w="1657350">
                  <a:extLst>
                    <a:ext uri="{9D8B030D-6E8A-4147-A177-3AD203B41FA5}">
                      <a16:colId xmlns:a16="http://schemas.microsoft.com/office/drawing/2014/main" val="2501629337"/>
                    </a:ext>
                  </a:extLst>
                </a:gridCol>
              </a:tblGrid>
              <a:tr h="344449">
                <a:tc>
                  <a:txBody>
                    <a:bodyPr/>
                    <a:lstStyle/>
                    <a:p>
                      <a:pPr marL="739140" indent="101600" algn="just">
                        <a:lnSpc>
                          <a:spcPct val="107000"/>
                        </a:lnSpc>
                        <a:spcAft>
                          <a:spcPts val="935"/>
                        </a:spcAft>
                        <a:buNone/>
                      </a:pPr>
                      <a:r>
                        <a:rPr lang="en-IN" sz="1200" kern="100">
                          <a:effectLst/>
                        </a:rPr>
                        <a:t>Model</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Accuracy</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Precision</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Recall</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F1-Score</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AUC</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41857500"/>
                  </a:ext>
                </a:extLst>
              </a:tr>
              <a:tr h="344449">
                <a:tc>
                  <a:txBody>
                    <a:bodyPr/>
                    <a:lstStyle/>
                    <a:p>
                      <a:pPr marL="739140" indent="101600" algn="just">
                        <a:lnSpc>
                          <a:spcPct val="107000"/>
                        </a:lnSpc>
                        <a:spcAft>
                          <a:spcPts val="935"/>
                        </a:spcAft>
                        <a:buNone/>
                      </a:pPr>
                      <a:r>
                        <a:rPr lang="en-IN" sz="1200" kern="100">
                          <a:effectLst/>
                        </a:rPr>
                        <a:t>CNN</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0.97</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0.96</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0.92</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0.94</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0.94</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795372808"/>
                  </a:ext>
                </a:extLst>
              </a:tr>
              <a:tr h="344449">
                <a:tc>
                  <a:txBody>
                    <a:bodyPr/>
                    <a:lstStyle/>
                    <a:p>
                      <a:pPr marL="739140" indent="101600" algn="just">
                        <a:lnSpc>
                          <a:spcPct val="107000"/>
                        </a:lnSpc>
                        <a:spcAft>
                          <a:spcPts val="935"/>
                        </a:spcAft>
                        <a:buNone/>
                      </a:pPr>
                      <a:r>
                        <a:rPr lang="en-IN" sz="1200" kern="100">
                          <a:effectLst/>
                        </a:rPr>
                        <a:t>VGG16</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0.94</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0.93</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0.92</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0.92</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0.96</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591745550"/>
                  </a:ext>
                </a:extLst>
              </a:tr>
              <a:tr h="344449">
                <a:tc>
                  <a:txBody>
                    <a:bodyPr/>
                    <a:lstStyle/>
                    <a:p>
                      <a:pPr marL="739140" indent="101600" algn="just">
                        <a:lnSpc>
                          <a:spcPct val="107000"/>
                        </a:lnSpc>
                        <a:spcAft>
                          <a:spcPts val="935"/>
                        </a:spcAft>
                        <a:buNone/>
                      </a:pPr>
                      <a:r>
                        <a:rPr lang="en-IN" sz="1200" kern="100">
                          <a:effectLst/>
                        </a:rPr>
                        <a:t>MobileNet</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0.96</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0.95</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0.94</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0.94</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0.97</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926893056"/>
                  </a:ext>
                </a:extLst>
              </a:tr>
              <a:tr h="706642">
                <a:tc>
                  <a:txBody>
                    <a:bodyPr/>
                    <a:lstStyle/>
                    <a:p>
                      <a:pPr marL="739140" indent="101600" algn="just">
                        <a:lnSpc>
                          <a:spcPct val="107000"/>
                        </a:lnSpc>
                        <a:spcAft>
                          <a:spcPts val="935"/>
                        </a:spcAft>
                        <a:buNone/>
                      </a:pPr>
                      <a:r>
                        <a:rPr lang="en-IN" sz="1200" kern="100" dirty="0">
                          <a:effectLst/>
                        </a:rPr>
                        <a:t>ResNet50 (Proposed)</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0.98</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0.98</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0.97</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a:effectLst/>
                        </a:rPr>
                        <a:t>0.98</a:t>
                      </a:r>
                      <a:endParaRPr lang="en-IN" sz="12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39140" indent="101600" algn="just">
                        <a:lnSpc>
                          <a:spcPct val="107000"/>
                        </a:lnSpc>
                        <a:spcAft>
                          <a:spcPts val="935"/>
                        </a:spcAft>
                        <a:buNone/>
                      </a:pPr>
                      <a:r>
                        <a:rPr lang="en-IN" sz="1200" kern="100" dirty="0">
                          <a:effectLst/>
                        </a:rPr>
                        <a:t>0.99</a:t>
                      </a:r>
                      <a:endParaRPr lang="en-IN"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7002627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Conclusion &amp; Future Scope</a:t>
            </a: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26</a:t>
            </a:fld>
            <a:endParaRPr lang="en-IN" b="1" dirty="0">
              <a:latin typeface="Arial" panose="020B0604020202020204" pitchFamily="34" charset="0"/>
              <a:cs typeface="Arial" panose="020B0604020202020204" pitchFamily="34" charset="0"/>
            </a:endParaRPr>
          </a:p>
        </p:txBody>
      </p:sp>
      <p:sp>
        <p:nvSpPr>
          <p:cNvPr id="12" name="Content Placeholder 11"/>
          <p:cNvSpPr>
            <a:spLocks noGrp="1"/>
          </p:cNvSpPr>
          <p:nvPr>
            <p:ph idx="1"/>
          </p:nvPr>
        </p:nvSpPr>
        <p:spPr>
          <a:xfrm>
            <a:off x="838200" y="1072514"/>
            <a:ext cx="10515600" cy="5104449"/>
          </a:xfrm>
        </p:spPr>
        <p:txBody>
          <a:bodyPr>
            <a:normAutofit fontScale="90000" lnSpcReduction="10000"/>
          </a:bodyPr>
          <a:lstStyle/>
          <a:p>
            <a:pPr marL="0" indent="0" algn="just">
              <a:lnSpc>
                <a:spcPct val="150000"/>
              </a:lnSpc>
              <a:buNone/>
            </a:pPr>
            <a:r>
              <a:rPr lang="en-US" altLang="en-US" b="1" dirty="0">
                <a:solidFill>
                  <a:schemeClr val="tx1"/>
                </a:solidFill>
              </a:rPr>
              <a:t>Conclusion:</a:t>
            </a:r>
          </a:p>
          <a:p>
            <a:pPr marL="0" lvl="0" indent="0" algn="just" eaLnBrk="0" fontAlgn="base" hangingPunct="0">
              <a:lnSpc>
                <a:spcPct val="150000"/>
              </a:lnSpc>
              <a:spcBef>
                <a:spcPct val="0"/>
              </a:spcBef>
              <a:spcAft>
                <a:spcPct val="0"/>
              </a:spcAft>
              <a:buNone/>
            </a:pPr>
            <a:endParaRPr lang="en-US" altLang="en-US" dirty="0">
              <a:solidFill>
                <a:schemeClr val="tx1"/>
              </a:solidFill>
            </a:endParaRPr>
          </a:p>
          <a:p>
            <a:pPr marL="0" lvl="0" indent="0" algn="just" eaLnBrk="0" fontAlgn="base" hangingPunct="0">
              <a:lnSpc>
                <a:spcPct val="150000"/>
              </a:lnSpc>
              <a:spcBef>
                <a:spcPct val="0"/>
              </a:spcBef>
              <a:spcAft>
                <a:spcPct val="0"/>
              </a:spcAft>
              <a:buFontTx/>
              <a:buChar char="•"/>
            </a:pPr>
            <a:r>
              <a:rPr lang="en-US" altLang="en-US" dirty="0">
                <a:solidFill>
                  <a:schemeClr val="tx1"/>
                </a:solidFill>
              </a:rPr>
              <a:t>Designed and implemented an efficient brain stroke detection system using ResNet50 and deep learning techniques </a:t>
            </a:r>
          </a:p>
          <a:p>
            <a:pPr marL="0" lvl="0" indent="0" algn="just" eaLnBrk="0" fontAlgn="base" hangingPunct="0">
              <a:lnSpc>
                <a:spcPct val="150000"/>
              </a:lnSpc>
              <a:spcBef>
                <a:spcPct val="0"/>
              </a:spcBef>
              <a:spcAft>
                <a:spcPct val="0"/>
              </a:spcAft>
              <a:buFontTx/>
              <a:buChar char="•"/>
            </a:pPr>
            <a:r>
              <a:rPr lang="en-US" altLang="en-US" dirty="0">
                <a:solidFill>
                  <a:schemeClr val="tx1"/>
                </a:solidFill>
              </a:rPr>
              <a:t>Achieved strong classification performance with high accuracy and reliability on CT scan data </a:t>
            </a:r>
          </a:p>
          <a:p>
            <a:pPr marL="0" lvl="0" indent="0" algn="just" eaLnBrk="0" fontAlgn="base" hangingPunct="0">
              <a:lnSpc>
                <a:spcPct val="150000"/>
              </a:lnSpc>
              <a:spcBef>
                <a:spcPct val="0"/>
              </a:spcBef>
              <a:spcAft>
                <a:spcPct val="0"/>
              </a:spcAft>
              <a:buFontTx/>
              <a:buChar char="•"/>
            </a:pPr>
            <a:r>
              <a:rPr lang="en-US" altLang="en-US" dirty="0">
                <a:solidFill>
                  <a:schemeClr val="tx1"/>
                </a:solidFill>
              </a:rPr>
              <a:t>Effective preprocessing played a key role in improving model performance </a:t>
            </a:r>
          </a:p>
          <a:p>
            <a:pPr marL="0" lvl="0" indent="0" algn="just" eaLnBrk="0" fontAlgn="base" hangingPunct="0">
              <a:lnSpc>
                <a:spcPct val="150000"/>
              </a:lnSpc>
              <a:spcBef>
                <a:spcPct val="0"/>
              </a:spcBef>
              <a:spcAft>
                <a:spcPct val="0"/>
              </a:spcAft>
              <a:buFontTx/>
              <a:buChar char="•"/>
            </a:pPr>
            <a:r>
              <a:rPr lang="en-US" altLang="en-US" dirty="0">
                <a:solidFill>
                  <a:schemeClr val="tx1"/>
                </a:solidFill>
              </a:rPr>
              <a:t>Demonstrates the potential of AI in supporting early stroke detection and medical decision-making </a:t>
            </a:r>
          </a:p>
          <a:p>
            <a:pPr marL="0" indent="0" algn="just">
              <a:lnSpc>
                <a:spcPct val="150000"/>
              </a:lnSpc>
              <a:buNone/>
            </a:pPr>
            <a:endParaRPr lang="en-US" altLang="en-US" b="1" dirty="0">
              <a:solidFill>
                <a:schemeClr val="tx1"/>
              </a:solidFill>
            </a:endParaRPr>
          </a:p>
        </p:txBody>
      </p:sp>
      <p:sp>
        <p:nvSpPr>
          <p:cNvPr id="3" name="Rectangle 1">
            <a:extLst>
              <a:ext uri="{FF2B5EF4-FFF2-40B4-BE49-F238E27FC236}">
                <a16:creationId xmlns:a16="http://schemas.microsoft.com/office/drawing/2014/main" id="{F979D1D1-CA32-6880-83F2-D00B18DE8749}"/>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just">
              <a:lnSpc>
                <a:spcPct val="150000"/>
              </a:lnSpc>
              <a:buNone/>
            </a:pPr>
            <a:r>
              <a:rPr lang="en-US" altLang="en-US" sz="2500" b="1" dirty="0">
                <a:solidFill>
                  <a:schemeClr val="tx1"/>
                </a:solidFill>
              </a:rPr>
              <a:t>Limitations of the Developed Project:</a:t>
            </a:r>
          </a:p>
          <a:p>
            <a:pPr marL="0" lvl="0" indent="0" algn="just" eaLnBrk="0" fontAlgn="base" hangingPunct="0">
              <a:lnSpc>
                <a:spcPct val="150000"/>
              </a:lnSpc>
              <a:spcBef>
                <a:spcPct val="0"/>
              </a:spcBef>
              <a:spcAft>
                <a:spcPct val="0"/>
              </a:spcAft>
              <a:buNone/>
            </a:pPr>
            <a:endParaRPr lang="en-US" altLang="en-US" sz="2500" dirty="0">
              <a:solidFill>
                <a:schemeClr val="tx1"/>
              </a:solidFill>
            </a:endParaRP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Performance may vary on unseen or real-world datasets </a:t>
            </a: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Accurate results depend on proper image preprocessing </a:t>
            </a:r>
            <a:endParaRPr lang="en-US" altLang="en-US" sz="2500" b="1" dirty="0">
              <a:solidFill>
                <a:schemeClr val="tx1"/>
              </a:solidFill>
            </a:endParaRP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Training is computationally intensive for large datasets </a:t>
            </a: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Scalability is limited without further optimization and deployment </a:t>
            </a:r>
          </a:p>
          <a:p>
            <a:pPr marL="0" indent="0" algn="just">
              <a:lnSpc>
                <a:spcPct val="150000"/>
              </a:lnSpc>
              <a:buNone/>
            </a:pPr>
            <a:endParaRPr lang="en-US" altLang="en-US" sz="2500" b="1" dirty="0">
              <a:solidFill>
                <a:schemeClr val="tx1"/>
              </a:solidFill>
            </a:endParaRPr>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27</a:t>
            </a:fld>
            <a:endParaRPr lang="en-I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7500"/>
          </a:bodyPr>
          <a:lstStyle/>
          <a:p>
            <a:pPr marL="0" indent="0" algn="just">
              <a:lnSpc>
                <a:spcPct val="150000"/>
              </a:lnSpc>
              <a:buNone/>
            </a:pPr>
            <a:r>
              <a:rPr lang="en-US" altLang="en-US" sz="2500" b="1" dirty="0">
                <a:solidFill>
                  <a:schemeClr val="tx1"/>
                </a:solidFill>
              </a:rPr>
              <a:t>Future Scope:</a:t>
            </a:r>
          </a:p>
          <a:p>
            <a:pPr marL="0" lvl="0" indent="0" algn="just" eaLnBrk="0" fontAlgn="base" hangingPunct="0">
              <a:lnSpc>
                <a:spcPct val="150000"/>
              </a:lnSpc>
              <a:spcBef>
                <a:spcPct val="0"/>
              </a:spcBef>
              <a:spcAft>
                <a:spcPct val="0"/>
              </a:spcAft>
              <a:buNone/>
            </a:pPr>
            <a:endParaRPr lang="en-US" altLang="en-US" sz="2500" dirty="0">
              <a:solidFill>
                <a:schemeClr val="tx1"/>
              </a:solidFill>
            </a:endParaRP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Utilize larger and real-time datasets to enhance model accuracy and robustness </a:t>
            </a: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Explore advanced deep learning architectures for improved performance </a:t>
            </a: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Develop a scalable web/mobile platform for real-world deployment </a:t>
            </a:r>
          </a:p>
          <a:p>
            <a:pPr marL="0" lvl="0" indent="0" algn="just" eaLnBrk="0" fontAlgn="base" hangingPunct="0">
              <a:lnSpc>
                <a:spcPct val="150000"/>
              </a:lnSpc>
              <a:spcBef>
                <a:spcPct val="0"/>
              </a:spcBef>
              <a:spcAft>
                <a:spcPct val="0"/>
              </a:spcAft>
              <a:buFontTx/>
              <a:buChar char="•"/>
            </a:pPr>
            <a:r>
              <a:rPr lang="en-US" altLang="en-US" sz="2500" dirty="0">
                <a:solidFill>
                  <a:schemeClr val="tx1"/>
                </a:solidFill>
              </a:rPr>
              <a:t>Integrate with healthcare systems for real-time monitoring and clinical use </a:t>
            </a:r>
          </a:p>
          <a:p>
            <a:pPr marL="0" indent="0" algn="just">
              <a:lnSpc>
                <a:spcPct val="150000"/>
              </a:lnSpc>
              <a:buNone/>
            </a:pPr>
            <a:endParaRPr lang="en-US" altLang="en-US" sz="2500" dirty="0">
              <a:solidFill>
                <a:schemeClr val="tx1"/>
              </a:solidFill>
            </a:endParaRPr>
          </a:p>
        </p:txBody>
      </p:sp>
      <p:sp>
        <p:nvSpPr>
          <p:cNvPr id="4" name="Date Placeholder 3"/>
          <p:cNvSpPr>
            <a:spLocks noGrp="1"/>
          </p:cNvSpPr>
          <p:nvPr>
            <p:ph type="dt" sz="half" idx="10"/>
          </p:nvPr>
        </p:nvSpPr>
        <p:spPr/>
        <p:txBody>
          <a:bodyPr/>
          <a:lstStyle/>
          <a:p>
            <a:fld id="{76201F7F-38FC-47FC-AD2C-765552840E23}" type="datetime1">
              <a:rPr lang="en-IN" smtClean="0"/>
              <a:t>09-04-2026</a:t>
            </a:fld>
            <a:endParaRPr lang="en-IN"/>
          </a:p>
        </p:txBody>
      </p:sp>
      <p:sp>
        <p:nvSpPr>
          <p:cNvPr id="5" name="Footer Placeholder 4"/>
          <p:cNvSpPr>
            <a:spLocks noGrp="1"/>
          </p:cNvSpPr>
          <p:nvPr>
            <p:ph type="ftr" sz="quarter" idx="11"/>
          </p:nvPr>
        </p:nvSpPr>
        <p:spPr/>
        <p:txBody>
          <a:bodyPr/>
          <a:lstStyle/>
          <a:p>
            <a:r>
              <a:rPr lang="en-US"/>
              <a:t>Department of CSE( AI &amp; ML) </a:t>
            </a:r>
            <a:endParaRPr lang="en-IN"/>
          </a:p>
        </p:txBody>
      </p:sp>
      <p:sp>
        <p:nvSpPr>
          <p:cNvPr id="6" name="Slide Number Placeholder 5"/>
          <p:cNvSpPr>
            <a:spLocks noGrp="1"/>
          </p:cNvSpPr>
          <p:nvPr>
            <p:ph type="sldNum" sz="quarter" idx="12"/>
          </p:nvPr>
        </p:nvSpPr>
        <p:spPr/>
        <p:txBody>
          <a:bodyPr/>
          <a:lstStyle/>
          <a:p>
            <a:fld id="{68E22B1B-3C73-49A3-AAA4-1ABA7C6D03ED}" type="slidenum">
              <a:rPr lang="en-IN" smtClean="0"/>
              <a:t>28</a:t>
            </a:fld>
            <a:endParaRPr lang="en-I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120" y="289559"/>
            <a:ext cx="8864600" cy="782955"/>
          </a:xfrm>
        </p:spPr>
        <p:txBody>
          <a:bodyPr/>
          <a:lstStyle/>
          <a:p>
            <a:r>
              <a:rPr lang="en-US" b="1" dirty="0"/>
              <a:t>References</a:t>
            </a:r>
          </a:p>
        </p:txBody>
      </p:sp>
      <p:sp>
        <p:nvSpPr>
          <p:cNvPr id="4" name="Footer Placeholder 3"/>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29</a:t>
            </a:fld>
            <a:endParaRPr lang="en-IN" b="1" dirty="0">
              <a:latin typeface="Arial" panose="020B0604020202020204" pitchFamily="34" charset="0"/>
              <a:cs typeface="Arial" panose="020B0604020202020204" pitchFamily="34" charset="0"/>
            </a:endParaRPr>
          </a:p>
        </p:txBody>
      </p:sp>
      <p:sp>
        <p:nvSpPr>
          <p:cNvPr id="12" name="Content Placeholder 11"/>
          <p:cNvSpPr>
            <a:spLocks noGrp="1"/>
          </p:cNvSpPr>
          <p:nvPr>
            <p:ph idx="1"/>
          </p:nvPr>
        </p:nvSpPr>
        <p:spPr>
          <a:xfrm>
            <a:off x="838200" y="1072514"/>
            <a:ext cx="10515600" cy="5104449"/>
          </a:xfrm>
        </p:spPr>
        <p:txBody>
          <a:bodyPr>
            <a:noAutofit/>
          </a:bodyPr>
          <a:lstStyle/>
          <a:p>
            <a:pPr algn="just">
              <a:lnSpc>
                <a:spcPct val="150000"/>
              </a:lnSpc>
            </a:pPr>
            <a:r>
              <a:rPr lang="en-IN" sz="1600" dirty="0"/>
              <a:t>[1] X. Hou, Y. Li, H. Wang, and Q. Li, “Deep learning based early detection of stroke using CT brain images,” </a:t>
            </a:r>
            <a:r>
              <a:rPr lang="en-IN" sz="1600" i="1" dirty="0"/>
              <a:t>IEEE Access</a:t>
            </a:r>
            <a:r>
              <a:rPr lang="en-IN" sz="1600" dirty="0"/>
              <a:t>, vol. 9, pp. 123456–123467, 2021.</a:t>
            </a:r>
          </a:p>
          <a:p>
            <a:pPr algn="just">
              <a:lnSpc>
                <a:spcPct val="150000"/>
              </a:lnSpc>
            </a:pPr>
            <a:r>
              <a:rPr lang="en-IN" sz="1600" dirty="0"/>
              <a:t>[2] B. Tasci, O. Yildirim, and U. R. Acharya, “Automated detection of ischemic stroke using deep learning techniques and CT imaging,” </a:t>
            </a:r>
            <a:r>
              <a:rPr lang="en-IN" sz="1600" i="1" dirty="0"/>
              <a:t>Biomedical Signal Processing and Control</a:t>
            </a:r>
            <a:r>
              <a:rPr lang="en-IN" sz="1600" dirty="0"/>
              <a:t>, vol. 78, 2023.</a:t>
            </a:r>
          </a:p>
          <a:p>
            <a:pPr algn="just">
              <a:lnSpc>
                <a:spcPct val="150000"/>
              </a:lnSpc>
            </a:pPr>
            <a:r>
              <a:rPr lang="en-IN" sz="1600" dirty="0"/>
              <a:t>[3] M. </a:t>
            </a:r>
            <a:r>
              <a:rPr lang="en-IN" sz="1600" dirty="0" err="1"/>
              <a:t>Gheibi</a:t>
            </a:r>
            <a:r>
              <a:rPr lang="en-IN" sz="1600" dirty="0"/>
              <a:t>, H. Khodadadi, and A. Mohammadi, “Deep residual convolutional neural networks for medical image classification and stroke detection,” </a:t>
            </a:r>
            <a:r>
              <a:rPr lang="en-IN" sz="1600" i="1" dirty="0"/>
              <a:t>Computer Methods and Programs in Biomedicine</a:t>
            </a:r>
            <a:r>
              <a:rPr lang="en-IN" sz="1600" dirty="0"/>
              <a:t>, vol. 220, 2023.</a:t>
            </a:r>
          </a:p>
          <a:p>
            <a:pPr algn="just">
              <a:lnSpc>
                <a:spcPct val="150000"/>
              </a:lnSpc>
            </a:pPr>
            <a:r>
              <a:rPr lang="en-IN" sz="1600" dirty="0"/>
              <a:t>[4] S. </a:t>
            </a:r>
            <a:r>
              <a:rPr lang="en-IN" sz="1600" dirty="0" err="1"/>
              <a:t>Kulathilake</a:t>
            </a:r>
            <a:r>
              <a:rPr lang="en-IN" sz="1600" dirty="0"/>
              <a:t>, P. Jayawardena, and T. Fernando, “Hybrid deep learning models for brain stroke detection using medical imaging,” </a:t>
            </a:r>
            <a:r>
              <a:rPr lang="en-IN" sz="1600" i="1" dirty="0"/>
              <a:t>International Journal of Medical Informatics</a:t>
            </a:r>
            <a:r>
              <a:rPr lang="en-IN" sz="1600" dirty="0"/>
              <a:t>, vol. 172, 2025.</a:t>
            </a:r>
          </a:p>
          <a:p>
            <a:pPr algn="just">
              <a:lnSpc>
                <a:spcPct val="150000"/>
              </a:lnSpc>
            </a:pPr>
            <a:r>
              <a:rPr lang="en-IN" sz="1600" dirty="0"/>
              <a:t>[5] S. Raj, P. Kumar, and A. Verma, “Artificial intelligence based systems for stroke diagnosis using CT brain scans,” </a:t>
            </a:r>
            <a:r>
              <a:rPr lang="en-IN" sz="1600" i="1" dirty="0"/>
              <a:t>Journal of Healthcare Engineering</a:t>
            </a:r>
            <a:r>
              <a:rPr lang="en-IN" sz="1600" dirty="0"/>
              <a:t>, vol. 2025, Article ID 987654, 2025.</a:t>
            </a:r>
          </a:p>
          <a:p>
            <a:pPr algn="just">
              <a:lnSpc>
                <a:spcPct val="150000"/>
              </a:lnSpc>
            </a:pPr>
            <a:r>
              <a:rPr lang="en-IN" sz="1600" dirty="0"/>
              <a:t>[6] K. He, X. Zhang, S. Ren, and J. Sun, “Deep residual learning for image recognition,” in </a:t>
            </a:r>
            <a:r>
              <a:rPr lang="en-IN" sz="1600" i="1" dirty="0"/>
              <a:t>Proc. IEEE Conf. Computer Vision and Pattern Recognition (CVPR)</a:t>
            </a:r>
            <a:r>
              <a:rPr lang="en-IN" sz="1600" dirty="0"/>
              <a:t>, 2016, pp. 770–778.</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57920-1740-6060-ABC8-1FBCAF637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D6021-C266-21C6-F4D4-BED4DA8CED1D}"/>
              </a:ext>
            </a:extLst>
          </p:cNvPr>
          <p:cNvSpPr>
            <a:spLocks noGrp="1"/>
          </p:cNvSpPr>
          <p:nvPr>
            <p:ph type="title"/>
          </p:nvPr>
        </p:nvSpPr>
        <p:spPr>
          <a:xfrm>
            <a:off x="452120" y="289559"/>
            <a:ext cx="8864600" cy="782955"/>
          </a:xfrm>
        </p:spPr>
        <p:txBody>
          <a:bodyPr/>
          <a:lstStyle/>
          <a:p>
            <a:r>
              <a:rPr lang="en-US" b="1" dirty="0"/>
              <a:t>References</a:t>
            </a:r>
          </a:p>
        </p:txBody>
      </p:sp>
      <p:sp>
        <p:nvSpPr>
          <p:cNvPr id="4" name="Footer Placeholder 3">
            <a:extLst>
              <a:ext uri="{FF2B5EF4-FFF2-40B4-BE49-F238E27FC236}">
                <a16:creationId xmlns:a16="http://schemas.microsoft.com/office/drawing/2014/main" id="{B169DA8A-81F8-3062-30CC-5671EA3691A9}"/>
              </a:ext>
            </a:extLst>
          </p:cNvPr>
          <p:cNvSpPr>
            <a:spLocks noGrp="1"/>
          </p:cNvSpPr>
          <p:nvPr>
            <p:ph type="ftr" sz="quarter" idx="11"/>
          </p:nvPr>
        </p:nvSpPr>
        <p:spPr/>
        <p:txBody>
          <a:bodyPr/>
          <a:lstStyle/>
          <a:p>
            <a:r>
              <a:rPr lang="en-US" b="1" dirty="0">
                <a:latin typeface="Arial" panose="020B0604020202020204" pitchFamily="34" charset="0"/>
                <a:cs typeface="Arial" panose="020B0604020202020204" pitchFamily="34" charset="0"/>
              </a:rPr>
              <a:t>Department of CSE( AI &amp; ML) </a:t>
            </a:r>
            <a:endParaRPr lang="en-IN" b="1" dirty="0">
              <a:latin typeface="Arial" panose="020B0604020202020204" pitchFamily="34" charset="0"/>
              <a:cs typeface="Arial" panose="020B0604020202020204" pitchFamily="34" charset="0"/>
            </a:endParaRPr>
          </a:p>
        </p:txBody>
      </p:sp>
      <p:sp>
        <p:nvSpPr>
          <p:cNvPr id="5" name="Date Placeholder 4">
            <a:extLst>
              <a:ext uri="{FF2B5EF4-FFF2-40B4-BE49-F238E27FC236}">
                <a16:creationId xmlns:a16="http://schemas.microsoft.com/office/drawing/2014/main" id="{B494751F-3A58-D75E-C8D9-101780BB097D}"/>
              </a:ext>
            </a:extLst>
          </p:cNvPr>
          <p:cNvSpPr>
            <a:spLocks noGrp="1"/>
          </p:cNvSpPr>
          <p:nvPr>
            <p:ph type="dt" sz="half" idx="10"/>
          </p:nvPr>
        </p:nvSpPr>
        <p:spPr>
          <a:xfrm>
            <a:off x="838200" y="6356350"/>
            <a:ext cx="807720" cy="365125"/>
          </a:xfrm>
        </p:spPr>
        <p:txBody>
          <a:bodyPr/>
          <a:lstStyle/>
          <a:p>
            <a:r>
              <a:rPr lang="en-IN" b="1" dirty="0">
                <a:latin typeface="Arial" panose="020B0604020202020204" pitchFamily="34" charset="0"/>
                <a:cs typeface="Arial" panose="020B0604020202020204" pitchFamily="34" charset="0"/>
              </a:rPr>
              <a:t>2025-26</a:t>
            </a:r>
          </a:p>
        </p:txBody>
      </p:sp>
      <p:sp>
        <p:nvSpPr>
          <p:cNvPr id="6" name="Slide Number Placeholder 5">
            <a:extLst>
              <a:ext uri="{FF2B5EF4-FFF2-40B4-BE49-F238E27FC236}">
                <a16:creationId xmlns:a16="http://schemas.microsoft.com/office/drawing/2014/main" id="{D10EAB50-C5A4-C6F6-A359-5156B05DEBFF}"/>
              </a:ext>
            </a:extLst>
          </p:cNvPr>
          <p:cNvSpPr>
            <a:spLocks noGrp="1"/>
          </p:cNvSpPr>
          <p:nvPr>
            <p:ph type="sldNum" sz="quarter" idx="12"/>
          </p:nvPr>
        </p:nvSpPr>
        <p:spPr/>
        <p:txBody>
          <a:bodyPr/>
          <a:lstStyle/>
          <a:p>
            <a:fld id="{68E22B1B-3C73-49A3-AAA4-1ABA7C6D03ED}" type="slidenum">
              <a:rPr lang="en-IN" b="1" smtClean="0">
                <a:latin typeface="Arial" panose="020B0604020202020204" pitchFamily="34" charset="0"/>
                <a:cs typeface="Arial" panose="020B0604020202020204" pitchFamily="34" charset="0"/>
              </a:rPr>
              <a:t>30</a:t>
            </a:fld>
            <a:endParaRPr lang="en-IN" b="1" dirty="0">
              <a:latin typeface="Arial" panose="020B0604020202020204" pitchFamily="34" charset="0"/>
              <a:cs typeface="Arial" panose="020B0604020202020204" pitchFamily="34" charset="0"/>
            </a:endParaRPr>
          </a:p>
        </p:txBody>
      </p:sp>
      <p:sp>
        <p:nvSpPr>
          <p:cNvPr id="12" name="Content Placeholder 11">
            <a:extLst>
              <a:ext uri="{FF2B5EF4-FFF2-40B4-BE49-F238E27FC236}">
                <a16:creationId xmlns:a16="http://schemas.microsoft.com/office/drawing/2014/main" id="{33770167-C561-3643-D326-FCC03F5C9527}"/>
              </a:ext>
            </a:extLst>
          </p:cNvPr>
          <p:cNvSpPr>
            <a:spLocks noGrp="1"/>
          </p:cNvSpPr>
          <p:nvPr>
            <p:ph idx="1"/>
          </p:nvPr>
        </p:nvSpPr>
        <p:spPr>
          <a:xfrm>
            <a:off x="838200" y="1072514"/>
            <a:ext cx="10515600" cy="5104449"/>
          </a:xfrm>
        </p:spPr>
        <p:txBody>
          <a:bodyPr>
            <a:noAutofit/>
          </a:bodyPr>
          <a:lstStyle/>
          <a:p>
            <a:pPr algn="just">
              <a:lnSpc>
                <a:spcPct val="150000"/>
              </a:lnSpc>
            </a:pPr>
            <a:r>
              <a:rPr lang="en-IN" sz="1600" dirty="0"/>
              <a:t>[7] F. </a:t>
            </a:r>
            <a:r>
              <a:rPr lang="en-IN" sz="1600" dirty="0" err="1"/>
              <a:t>Iandola</a:t>
            </a:r>
            <a:r>
              <a:rPr lang="en-IN" sz="1600" dirty="0"/>
              <a:t>, S. Han, M. </a:t>
            </a:r>
            <a:r>
              <a:rPr lang="en-IN" sz="1600" dirty="0" err="1"/>
              <a:t>Moskewicz</a:t>
            </a:r>
            <a:r>
              <a:rPr lang="en-IN" sz="1600" dirty="0"/>
              <a:t>, K. Ashraf, W. Dally, and K. Keutzer, “</a:t>
            </a:r>
            <a:r>
              <a:rPr lang="en-IN" sz="1600" dirty="0" err="1"/>
              <a:t>SqueezeNet</a:t>
            </a:r>
            <a:r>
              <a:rPr lang="en-IN" sz="1600" dirty="0"/>
              <a:t>: </a:t>
            </a:r>
            <a:r>
              <a:rPr lang="en-IN" sz="1600" dirty="0" err="1"/>
              <a:t>AlexNet</a:t>
            </a:r>
            <a:r>
              <a:rPr lang="en-IN" sz="1600" dirty="0"/>
              <a:t>-level accuracy with 50× fewer parameters and &lt;0.5 MB model size,” </a:t>
            </a:r>
            <a:r>
              <a:rPr lang="en-IN" sz="1600" i="1" dirty="0" err="1"/>
              <a:t>arXiv</a:t>
            </a:r>
            <a:r>
              <a:rPr lang="en-IN" sz="1600" i="1" dirty="0"/>
              <a:t> preprint arXiv:1602.07360</a:t>
            </a:r>
            <a:r>
              <a:rPr lang="en-IN" sz="1600" dirty="0"/>
              <a:t>, 2016.</a:t>
            </a:r>
          </a:p>
          <a:p>
            <a:pPr algn="just">
              <a:lnSpc>
                <a:spcPct val="150000"/>
              </a:lnSpc>
            </a:pPr>
            <a:r>
              <a:rPr lang="en-IN" sz="1600" dirty="0"/>
              <a:t>[8] F. Chollet, “</a:t>
            </a:r>
            <a:r>
              <a:rPr lang="en-IN" sz="1600" dirty="0" err="1"/>
              <a:t>Keras</a:t>
            </a:r>
            <a:r>
              <a:rPr lang="en-IN" sz="1600" dirty="0"/>
              <a:t>: Deep learning library for Python,” GitHub repository, 2015. [Online]. Available: </a:t>
            </a:r>
            <a:r>
              <a:rPr lang="en-IN" sz="1600" dirty="0">
                <a:hlinkClick r:id="rId2"/>
              </a:rPr>
              <a:t>https://keras.io</a:t>
            </a:r>
            <a:endParaRPr lang="en-IN" sz="1600" dirty="0"/>
          </a:p>
          <a:p>
            <a:pPr algn="just">
              <a:lnSpc>
                <a:spcPct val="150000"/>
              </a:lnSpc>
            </a:pPr>
            <a:r>
              <a:rPr lang="en-IN" sz="1600" dirty="0"/>
              <a:t>[9] M. Abadi </a:t>
            </a:r>
            <a:r>
              <a:rPr lang="en-IN" sz="1600" i="1" dirty="0"/>
              <a:t>et al.</a:t>
            </a:r>
            <a:r>
              <a:rPr lang="en-IN" sz="1600" dirty="0"/>
              <a:t>, “TensorFlow: Large-scale machine learning on heterogeneous systems,” Google Research, 2016. [Online]. Available: </a:t>
            </a:r>
            <a:r>
              <a:rPr lang="en-IN" sz="1600" dirty="0">
                <a:hlinkClick r:id="rId3"/>
              </a:rPr>
              <a:t>https://www.tensorflow.org</a:t>
            </a:r>
            <a:endParaRPr lang="en-IN" sz="1600" dirty="0"/>
          </a:p>
        </p:txBody>
      </p:sp>
    </p:spTree>
    <p:extLst>
      <p:ext uri="{BB962C8B-B14F-4D97-AF65-F5344CB8AC3E}">
        <p14:creationId xmlns:p14="http://schemas.microsoft.com/office/powerpoint/2010/main" val="2567782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90620" y="2814319"/>
            <a:ext cx="4953000" cy="1036321"/>
          </a:xfrm>
        </p:spPr>
        <p:txBody>
          <a:bodyPr>
            <a:normAutofit lnSpcReduction="10000"/>
          </a:bodyPr>
          <a:lstStyle/>
          <a:p>
            <a:pPr marL="0" indent="0">
              <a:buNone/>
            </a:pPr>
            <a:r>
              <a:rPr lang="en-US" sz="7200" b="1" dirty="0">
                <a:solidFill>
                  <a:srgbClr val="C00000"/>
                </a:solidFill>
              </a:rPr>
              <a:t>Thank You </a:t>
            </a:r>
            <a:endParaRPr lang="en-IN" sz="7200" b="1" dirty="0">
              <a:solidFill>
                <a:srgbClr val="C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TotalTime>
  <Words>1634</Words>
  <Application>Microsoft Office PowerPoint</Application>
  <PresentationFormat>Widescreen</PresentationFormat>
  <Paragraphs>266</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Times New Roman</vt:lpstr>
      <vt:lpstr>Office Theme</vt:lpstr>
      <vt:lpstr>Project Stage-2 Review -2</vt:lpstr>
      <vt:lpstr>Index </vt:lpstr>
      <vt:lpstr>Problem Statement</vt:lpstr>
      <vt:lpstr>PowerPoint Presentation</vt:lpstr>
      <vt:lpstr>Proposed System</vt:lpstr>
      <vt:lpstr>PowerPoint Presentation</vt:lpstr>
      <vt:lpstr>Architecture</vt:lpstr>
      <vt:lpstr>Dataset Description</vt:lpstr>
      <vt:lpstr>Model</vt:lpstr>
      <vt:lpstr>PowerPoint Presentation</vt:lpstr>
      <vt:lpstr>PowerPoint Presentation</vt:lpstr>
      <vt:lpstr>Training Process</vt:lpstr>
      <vt:lpstr>PowerPoint Presentation</vt:lpstr>
      <vt:lpstr>System Implementation &amp; Testing</vt:lpstr>
      <vt:lpstr>PowerPoint Presentation</vt:lpstr>
      <vt:lpstr>Screens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Results &amp;  Performance Analysis</vt:lpstr>
      <vt:lpstr>PowerPoint Presentation</vt:lpstr>
      <vt:lpstr>Conclusion &amp; Future Scope</vt:lpstr>
      <vt:lpstr>PowerPoint Presentation</vt:lpstr>
      <vt:lpstr>PowerPoint Presentation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Guttikonda</dc:creator>
  <cp:lastModifiedBy>bijiga vinay</cp:lastModifiedBy>
  <cp:revision>32</cp:revision>
  <dcterms:created xsi:type="dcterms:W3CDTF">2026-03-19T17:32:00Z</dcterms:created>
  <dcterms:modified xsi:type="dcterms:W3CDTF">2026-04-09T07:18:36Z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1033-12.1.0.25830</vt:lpwstr>
  </property>
  <property fmtid="{D5CDD505-2E9C-101B-9397-08002B2CF9AE}" pid="3" name="ICV">
    <vt:lpwstr>6BB9EF435145475CAE3099213F450815_13</vt:lpwstr>
  </property>
</Properties>
</file>